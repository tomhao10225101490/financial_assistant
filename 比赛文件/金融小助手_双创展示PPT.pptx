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svg" ContentType="image/svg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.xml" /><ns0:Relationship Id="rIdFinancialVisual1" Type="http://schemas.openxmlformats.org/officeDocument/2006/relationships/image" Target="../media/product-overview.sv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4" Type="http://schemas.openxmlformats.org/officeDocument/2006/relationships/slideLayout" Target="../slideLayouts/slideLayout1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5.xml.rels><?xml version='1.0' encoding='utf-8'?>
<ns0:Relationships xmlns:ns0="http://schemas.openxmlformats.org/package/2006/relationships"><ns0:Relationship Id="rId4" Type="http://schemas.openxmlformats.org/officeDocument/2006/relationships/slideLayout" Target="../slideLayouts/slideLayout1.xml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.xml" /></ns0:Relationships>
</file>

<file path=ppt/slides/_rels/slide7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.xml" /></ns0:Relationships>
</file>

<file path=ppt/slides/_rels/slide8.xml.rels><?xml version='1.0' encoding='utf-8'?>
<ns0:Relationships xmlns:ns0="http://schemas.openxmlformats.org/package/2006/relationships"><ns0:Relationship Id="rId4" Type="http://schemas.openxmlformats.org/officeDocument/2006/relationships/slideLayout" Target="../slideLayouts/slideLayout1.xml" /><ns0:Relationship Id="rIdFinancialVisual8" Type="http://schemas.openxmlformats.org/officeDocument/2006/relationships/image" Target="../media/globe-interaction.svg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FinancialVisual9" Type="http://schemas.openxmlformats.org/officeDocument/2006/relationships/image" Target="../media/architecture.svg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FinancialVisual10" Type="http://schemas.openxmlformats.org/officeDocument/2006/relationships/image" Target="../media/data-flow.svg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5.xml.rels><?xml version='1.0' encoding='utf-8'?>
<ns0:Relationships xmlns:ns0="http://schemas.openxmlformats.org/package/2006/relationships"><ns0:Relationship Id="rId4" Type="http://schemas.openxmlformats.org/officeDocument/2006/relationships/slideLayout" Target="../slideLayouts/slideLayout1.xml" /></ns0:Relationships>
</file>

<file path=ppt/slides/_rels/slide16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cover main"/>
          <p:cNvSpPr txBox="1"/>
          <p:nvPr/>
        </p:nvSpPr>
        <p:spPr>
          <a:xfrm>
            <a:off x="546100" y="730250"/>
            <a:ext cx="6667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cover main2"/>
          <p:cNvSpPr txBox="1"/>
          <p:nvPr/>
        </p:nvSpPr>
        <p:spPr>
          <a:xfrm>
            <a:off x="546100" y="1238250"/>
            <a:ext cx="6667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Global Market Console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cover sub"/>
          <p:cNvSpPr txBox="1"/>
          <p:nvPr/>
        </p:nvSpPr>
        <p:spPr>
          <a:xfrm>
            <a:off x="571500" y="1854200"/>
            <a:ext cx="654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2000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零成本公开访问的全球金融市场数据控制台</a:t>
            </a:r>
            <a:endParaRPr lang="zh-CN" sz="2000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ag"/>
          <p:cNvSpPr/>
          <p:nvPr/>
        </p:nvSpPr>
        <p:spPr>
          <a:xfrm>
            <a:off x="584200" y="2349500"/>
            <a:ext cx="2730500" cy="228600"/>
          </a:xfrm>
          <a:prstGeom prst="roundRect">
            <a:avLst/>
          </a:prstGeom>
          <a:solidFill>
            <a:srgbClr val="0E2A4D"/>
          </a:solidFill>
          <a:ln w="1651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tag text"/>
          <p:cNvSpPr txBox="1"/>
          <p:nvPr/>
        </p:nvSpPr>
        <p:spPr>
          <a:xfrm>
            <a:off x="660400" y="2393950"/>
            <a:ext cx="25781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汇率 / 全球指数 / 三模式图表 / 3D 地球 / 数据诊断</a:t>
            </a:r>
            <a:endParaRPr lang="zh-CN" sz="1200" b="1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neon card"/>
          <p:cNvSpPr/>
          <p:nvPr/>
        </p:nvSpPr>
        <p:spPr>
          <a:xfrm>
            <a:off x="584200" y="2984500"/>
            <a:ext cx="3302000" cy="1714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card inner"/>
          <p:cNvSpPr/>
          <p:nvPr/>
        </p:nvSpPr>
        <p:spPr>
          <a:xfrm>
            <a:off x="647700" y="3048000"/>
            <a:ext cx="3175000" cy="1587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card title"/>
          <p:cNvSpPr txBox="1"/>
          <p:nvPr/>
        </p:nvSpPr>
        <p:spPr>
          <a:xfrm>
            <a:off x="762000" y="3149600"/>
            <a:ext cx="29464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第十一届创新创业大赛作品赛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card body"/>
          <p:cNvSpPr txBox="1"/>
          <p:nvPr/>
        </p:nvSpPr>
        <p:spPr>
          <a:xfrm>
            <a:off x="762000" y="3479800"/>
            <a:ext cx="2946400" cy="1130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一句话定位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phone shadow"/>
          <p:cNvSpPr/>
          <p:nvPr/>
        </p:nvSpPr>
        <p:spPr>
          <a:xfrm>
            <a:off x="8115300" y="666750"/>
            <a:ext cx="2057400" cy="42672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phone frame"/>
          <p:cNvSpPr/>
          <p:nvPr/>
        </p:nvSpPr>
        <p:spPr>
          <a:xfrm>
            <a:off x="8191500" y="603250"/>
            <a:ext cx="1905000" cy="41148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phone label"/>
          <p:cNvSpPr txBox="1"/>
          <p:nvPr/>
        </p:nvSpPr>
        <p:spPr>
          <a:xfrm>
            <a:off x="8128000" y="483235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用本地 Python + 原生前端，把全球金融数据做成可运行、可公开、可解释的市场观察工作台。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phone cap"/>
          <p:cNvSpPr txBox="1"/>
          <p:nvPr/>
        </p:nvSpPr>
        <p:spPr>
          <a:xfrm>
            <a:off x="8032750" y="5035550"/>
            <a:ext cx="2222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核心亮点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qr box"/>
          <p:cNvSpPr/>
          <p:nvPr/>
        </p:nvSpPr>
        <p:spPr>
          <a:xfrm>
            <a:off x="10287000" y="3822700"/>
            <a:ext cx="1206500" cy="1206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qr text"/>
          <p:cNvSpPr txBox="1"/>
          <p:nvPr/>
        </p:nvSpPr>
        <p:spPr>
          <a:xfrm>
            <a:off x="10128250" y="511175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20 秒刷新 · 官方来源跳转 · 质量标签 · Cloudflare 临时公网链接</a:t>
            </a:r>
            <a:endParaRPr lang="zh-CN" sz="1400" b="1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41" name="product-overview.svg"/>
          <p:cNvPicPr/>
          <p:nvPr/>
        </p:nvPicPr>
        <p:blipFill>
          <a:blip r:embed="rIdFinancialVisual1"/>
          <a:stretch>
            <a:fillRect/>
          </a:stretch>
        </p:blipFill>
        <p:spPr>
          <a:xfrm>
            <a:off x="6100000" y="1860000"/>
            <a:ext cx="5600000" cy="31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46100" y="342900"/>
            <a:ext cx="7620000" cy="520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ub"/>
          <p:cNvSpPr txBox="1"/>
          <p:nvPr/>
        </p:nvSpPr>
        <p:spPr>
          <a:xfrm>
            <a:off x="571500" y="81915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6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从金融数据痛点，到产品方案、技术架构、可信兜底和比赛演示路径。</a:t>
            </a:r>
            <a:endParaRPr lang="zh-CN" sz="16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oc"/>
          <p:cNvSpPr txBox="1"/>
          <p:nvPr/>
        </p:nvSpPr>
        <p:spPr>
          <a:xfrm>
            <a:off x="1016000" y="1651000"/>
            <a:ext cx="4381500" cy="762000"/>
          </a:xfrm>
          <a:prstGeom prst="roundRect">
            <a:avLst/>
          </a:prstGeom>
          <a:solidFill>
            <a:srgbClr val="101D33"/>
          </a:solidFill>
          <a:ln w="19050">
            <a:solidFill>
              <a:srgbClr val="00D4FF"/>
            </a:solidFill>
          </a:ln>
        </p:spPr>
        <p:txBody>
          <a:bodyPr lIns="152400" tIns="114300"/>
          <a:lstStyle/>
          <a:p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团队成员 - 分工保持不变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oc"/>
          <p:cNvSpPr txBox="1"/>
          <p:nvPr/>
        </p:nvSpPr>
        <p:spPr>
          <a:xfrm>
            <a:off x="6223000" y="1651000"/>
            <a:ext cx="4381500" cy="762000"/>
          </a:xfrm>
          <a:prstGeom prst="roundRect">
            <a:avLst/>
          </a:prstGeom>
          <a:solidFill>
            <a:srgbClr val="101D33"/>
          </a:solidFill>
          <a:ln w="19050">
            <a:solidFill>
              <a:srgbClr val="00D4FF"/>
            </a:solidFill>
          </a:ln>
        </p:spPr>
        <p:txBody>
          <a:bodyPr lIns="152400" tIns="114300"/>
          <a:lstStyle/>
          <a:p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项目背景 - 汇率、指数、时区与来源分散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oc"/>
          <p:cNvSpPr txBox="1"/>
          <p:nvPr/>
        </p:nvSpPr>
        <p:spPr>
          <a:xfrm>
            <a:off x="1016000" y="2959100"/>
            <a:ext cx="4381500" cy="762000"/>
          </a:xfrm>
          <a:prstGeom prst="roundRect">
            <a:avLst/>
          </a:prstGeom>
          <a:solidFill>
            <a:srgbClr val="101D33"/>
          </a:solidFill>
          <a:ln w="19050">
            <a:solidFill>
              <a:srgbClr val="00D4FF"/>
            </a:solidFill>
          </a:ln>
        </p:spPr>
        <p:txBody>
          <a:bodyPr lIns="152400" tIns="114300"/>
          <a:lstStyle/>
          <a:p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产品方案 - 一屏式金融控制台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oc"/>
          <p:cNvSpPr txBox="1"/>
          <p:nvPr/>
        </p:nvSpPr>
        <p:spPr>
          <a:xfrm>
            <a:off x="6223000" y="2959100"/>
            <a:ext cx="4381500" cy="762000"/>
          </a:xfrm>
          <a:prstGeom prst="roundRect">
            <a:avLst/>
          </a:prstGeom>
          <a:solidFill>
            <a:srgbClr val="101D33"/>
          </a:solidFill>
          <a:ln w="19050">
            <a:solidFill>
              <a:srgbClr val="00D4FF"/>
            </a:solidFill>
          </a:ln>
        </p:spPr>
        <p:txBody>
          <a:bodyPr lIns="152400" tIns="114300"/>
          <a:lstStyle/>
          <a:p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作品展示 - 汇率、指数、图表、3D 地球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oc"/>
          <p:cNvSpPr txBox="1"/>
          <p:nvPr/>
        </p:nvSpPr>
        <p:spPr>
          <a:xfrm>
            <a:off x="1016000" y="4267200"/>
            <a:ext cx="4381500" cy="762000"/>
          </a:xfrm>
          <a:prstGeom prst="roundRect">
            <a:avLst/>
          </a:prstGeom>
          <a:solidFill>
            <a:srgbClr val="101D33"/>
          </a:solidFill>
          <a:ln w="19050">
            <a:solidFill>
              <a:srgbClr val="00D4FF"/>
            </a:solidFill>
          </a:ln>
        </p:spPr>
        <p:txBody>
          <a:bodyPr lIns="152400" tIns="114300"/>
          <a:lstStyle/>
          <a:p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技术架构 - Python 后端 + 原生前端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oc"/>
          <p:cNvSpPr txBox="1"/>
          <p:nvPr/>
        </p:nvSpPr>
        <p:spPr>
          <a:xfrm>
            <a:off x="6223000" y="4267200"/>
            <a:ext cx="4381500" cy="762000"/>
          </a:xfrm>
          <a:prstGeom prst="roundRect">
            <a:avLst/>
          </a:prstGeom>
          <a:solidFill>
            <a:srgbClr val="101D33"/>
          </a:solidFill>
          <a:ln w="19050">
            <a:solidFill>
              <a:srgbClr val="00D4FF"/>
            </a:solidFill>
          </a:ln>
        </p:spPr>
        <p:txBody>
          <a:bodyPr lIns="152400" tIns="114300"/>
          <a:lstStyle/>
          <a:p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 数据可信 - 缓存、诊断、官方跳转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oc extra"/>
          <p:cNvSpPr txBox="1"/>
          <p:nvPr/>
        </p:nvSpPr>
        <p:spPr>
          <a:xfrm>
            <a:off x="3365500" y="5397500"/>
            <a:ext cx="546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 创新价值 - 零成本公开访问与后续路线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deep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orb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orb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5207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6669405" y="313817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title"/>
          <p:cNvSpPr txBox="1"/>
          <p:nvPr/>
        </p:nvSpPr>
        <p:spPr>
          <a:xfrm>
            <a:off x="571500" y="749300"/>
            <a:ext cx="8890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团队成员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钟浩 card outer"/>
          <p:cNvSpPr/>
          <p:nvPr/>
        </p:nvSpPr>
        <p:spPr>
          <a:xfrm>
            <a:off x="920750" y="1682750"/>
            <a:ext cx="3175000" cy="3619500"/>
          </a:xfrm>
          <a:prstGeom prst="roundRect">
            <a:avLst/>
          </a:prstGeom>
          <a:solidFill>
            <a:srgbClr val="101D33"/>
          </a:solidFill>
          <a:ln w="2540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钟浩 card inner"/>
          <p:cNvSpPr/>
          <p:nvPr/>
        </p:nvSpPr>
        <p:spPr>
          <a:xfrm>
            <a:off x="996950" y="1758950"/>
            <a:ext cx="3022600" cy="34671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钟浩 avatar ring"/>
          <p:cNvSpPr/>
          <p:nvPr/>
        </p:nvSpPr>
        <p:spPr>
          <a:xfrm>
            <a:off x="1968500" y="1936750"/>
            <a:ext cx="1079500" cy="10795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钟浩 name"/>
          <p:cNvSpPr txBox="1"/>
          <p:nvPr/>
        </p:nvSpPr>
        <p:spPr>
          <a:xfrm>
            <a:off x="1174750" y="3206750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成员分工围绕真实可运行、数据可信、体验展示和项目规范展开。</a:t>
            </a:r>
            <a:endParaRPr lang="zh-CN"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钟浩 role pill"/>
          <p:cNvSpPr/>
          <p:nvPr/>
        </p:nvSpPr>
        <p:spPr>
          <a:xfrm>
            <a:off x="1873250" y="3556000"/>
            <a:ext cx="1270000" cy="241300"/>
          </a:xfrm>
          <a:prstGeom prst="roundRect">
            <a:avLst/>
          </a:prstGeom>
          <a:solidFill>
            <a:srgbClr val="0E2A4D"/>
          </a:solidFill>
          <a:ln w="1905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钟浩 role"/>
          <p:cNvSpPr txBox="1"/>
          <p:nvPr/>
        </p:nvSpPr>
        <p:spPr>
          <a:xfrm>
            <a:off x="1936750" y="3606800"/>
            <a:ext cx="1143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史健申</a:t>
            </a:r>
            <a:endParaRPr lang="zh-CN" sz="1300" b="1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钟浩 intro"/>
          <p:cNvSpPr txBox="1"/>
          <p:nvPr/>
        </p:nvSpPr>
        <p:spPr>
          <a:xfrm>
            <a:off x="1212850" y="3968750"/>
            <a:ext cx="2590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组长</a:t>
            </a:r>
            <a:endParaRPr lang="zh-CN" sz="13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钟浩 divider"/>
          <p:cNvSpPr/>
          <p:nvPr/>
        </p:nvSpPr>
        <p:spPr>
          <a:xfrm>
            <a:off x="1365250" y="4476750"/>
            <a:ext cx="2286000" cy="190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钟浩 duties"/>
          <p:cNvSpPr txBox="1"/>
          <p:nvPr/>
        </p:nvSpPr>
        <p:spPr>
          <a:xfrm>
            <a:off x="1263650" y="4667250"/>
            <a:ext cx="2489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>
                <a:solidFill>
                  <a:srgbClr val="E5F2FF"/>
                </a:solidFill>
                <a:latin typeface="微软雅黑" panose="020B0503020204020204" charset="-122"/>
                <a:ea typeface="微软雅黑" panose="020B0503020204020204" charset="-122"/>
              </a:rPr>
              <a:t>统筹项目方向、需求抽象、可信度验证与现场路演表达。</a:t>
            </a:r>
            <a:endParaRPr lang="zh-CN" sz="1400">
              <a:solidFill>
                <a:srgbClr val="E5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>
                <a:solidFill>
                  <a:srgbClr val="E5F2FF"/>
                </a:solidFill>
                <a:latin typeface="微软雅黑" panose="020B0503020204020204" charset="-122"/>
                <a:ea typeface="微软雅黑" panose="020B0503020204020204" charset="-122"/>
              </a:rPr>
              <a:t>需求分析</a:t>
            </a:r>
            <a:endParaRPr lang="zh-CN" sz="1400">
              <a:solidFill>
                <a:srgbClr val="E5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>
                <a:solidFill>
                  <a:srgbClr val="E5F2FF"/>
                </a:solidFill>
                <a:latin typeface="微软雅黑" panose="020B0503020204020204" charset="-122"/>
                <a:ea typeface="微软雅黑" panose="020B0503020204020204" charset="-122"/>
              </a:rPr>
              <a:t>项目统筹</a:t>
            </a:r>
            <a:endParaRPr lang="zh-CN" sz="1400">
              <a:solidFill>
                <a:srgbClr val="E5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史健申 card outer"/>
          <p:cNvSpPr/>
          <p:nvPr/>
        </p:nvSpPr>
        <p:spPr>
          <a:xfrm>
            <a:off x="8140700" y="1682750"/>
            <a:ext cx="3175000" cy="3619500"/>
          </a:xfrm>
          <a:prstGeom prst="roundRect">
            <a:avLst/>
          </a:prstGeom>
          <a:solidFill>
            <a:srgbClr val="101D33"/>
          </a:solidFill>
          <a:ln w="2540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史健申 card inner"/>
          <p:cNvSpPr/>
          <p:nvPr/>
        </p:nvSpPr>
        <p:spPr>
          <a:xfrm>
            <a:off x="8216900" y="1758950"/>
            <a:ext cx="3022600" cy="34671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史健申 avatar ring"/>
          <p:cNvSpPr/>
          <p:nvPr/>
        </p:nvSpPr>
        <p:spPr>
          <a:xfrm>
            <a:off x="9188450" y="1936750"/>
            <a:ext cx="1079500" cy="10795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史健申 name"/>
          <p:cNvSpPr txBox="1"/>
          <p:nvPr/>
        </p:nvSpPr>
        <p:spPr>
          <a:xfrm>
            <a:off x="8394700" y="3206750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数据可信度测试</a:t>
            </a:r>
            <a:endParaRPr lang="zh-CN"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史健申 role pill"/>
          <p:cNvSpPr/>
          <p:nvPr/>
        </p:nvSpPr>
        <p:spPr>
          <a:xfrm>
            <a:off x="9093200" y="3556000"/>
            <a:ext cx="1270000" cy="241300"/>
          </a:xfrm>
          <a:prstGeom prst="roundRect">
            <a:avLst/>
          </a:prstGeom>
          <a:solidFill>
            <a:srgbClr val="0E2A4D"/>
          </a:solidFill>
          <a:ln w="1905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史健申 role"/>
          <p:cNvSpPr txBox="1"/>
          <p:nvPr/>
        </p:nvSpPr>
        <p:spPr>
          <a:xfrm>
            <a:off x="9156700" y="3606800"/>
            <a:ext cx="1143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公开访问验证</a:t>
            </a:r>
            <a:endParaRPr lang="zh-CN" sz="1300" b="1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史健申 intro"/>
          <p:cNvSpPr txBox="1"/>
          <p:nvPr/>
        </p:nvSpPr>
        <p:spPr>
          <a:xfrm>
            <a:off x="8432800" y="3968750"/>
            <a:ext cx="2590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钟浩</a:t>
            </a:r>
            <a:endParaRPr lang="zh-CN" sz="13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史健申 divider"/>
          <p:cNvSpPr/>
          <p:nvPr/>
        </p:nvSpPr>
        <p:spPr>
          <a:xfrm>
            <a:off x="8585200" y="4476750"/>
            <a:ext cx="2286000" cy="19050"/>
          </a:xfrm>
          <a:prstGeom prst="rect">
            <a:avLst/>
          </a:prstGeom>
          <a:solidFill>
            <a:srgbClr val="47F0A0"/>
          </a:solidFill>
          <a:ln w="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史健申 duties"/>
          <p:cNvSpPr txBox="1"/>
          <p:nvPr/>
        </p:nvSpPr>
        <p:spPr>
          <a:xfrm>
            <a:off x="8483600" y="4667250"/>
            <a:ext cx="2489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>
                <a:solidFill>
                  <a:srgbClr val="E5F2FF"/>
                </a:solidFill>
                <a:latin typeface="微软雅黑" panose="020B0503020204020204" charset="-122"/>
                <a:ea typeface="微软雅黑" panose="020B0503020204020204" charset="-122"/>
              </a:rPr>
              <a:t>组员</a:t>
            </a:r>
            <a:endParaRPr lang="zh-CN" sz="1400">
              <a:solidFill>
                <a:srgbClr val="E5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>
                <a:solidFill>
                  <a:srgbClr val="E5F2FF"/>
                </a:solidFill>
                <a:latin typeface="微软雅黑" panose="020B0503020204020204" charset="-122"/>
                <a:ea typeface="微软雅黑" panose="020B0503020204020204" charset="-122"/>
              </a:rPr>
              <a:t>负责产品方案、数据源适配、前端交互、3D 可视化与工程交付。</a:t>
            </a:r>
            <a:endParaRPr lang="zh-CN" sz="1400">
              <a:solidFill>
                <a:srgbClr val="E5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>
                <a:solidFill>
                  <a:srgbClr val="E5F2FF"/>
                </a:solidFill>
                <a:latin typeface="微软雅黑" panose="020B0503020204020204" charset="-122"/>
                <a:ea typeface="微软雅黑" panose="020B0503020204020204" charset="-122"/>
              </a:rPr>
              <a:t>产品设计</a:t>
            </a:r>
            <a:endParaRPr lang="zh-CN" sz="1400">
              <a:solidFill>
                <a:srgbClr val="E5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曹桂涛 card outer"/>
          <p:cNvSpPr/>
          <p:nvPr/>
        </p:nvSpPr>
        <p:spPr>
          <a:xfrm>
            <a:off x="4507865" y="1682750"/>
            <a:ext cx="3175000" cy="3619500"/>
          </a:xfrm>
          <a:prstGeom prst="roundRect">
            <a:avLst/>
          </a:prstGeom>
          <a:solidFill>
            <a:srgbClr val="101D33"/>
          </a:solidFill>
          <a:ln w="2540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曹桂涛 card inner"/>
          <p:cNvSpPr/>
          <p:nvPr/>
        </p:nvSpPr>
        <p:spPr>
          <a:xfrm>
            <a:off x="4584065" y="1758950"/>
            <a:ext cx="3022600" cy="34671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曹桂涛 avatar ring"/>
          <p:cNvSpPr/>
          <p:nvPr/>
        </p:nvSpPr>
        <p:spPr>
          <a:xfrm>
            <a:off x="5555615" y="1936750"/>
            <a:ext cx="1079500" cy="10795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曹桂涛 name"/>
          <p:cNvSpPr txBox="1"/>
          <p:nvPr/>
        </p:nvSpPr>
        <p:spPr>
          <a:xfrm>
            <a:off x="4761865" y="3206750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Python 后端与 API</a:t>
            </a:r>
            <a:endParaRPr lang="zh-CN"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曹桂涛 role pill"/>
          <p:cNvSpPr/>
          <p:nvPr/>
        </p:nvSpPr>
        <p:spPr>
          <a:xfrm>
            <a:off x="5460365" y="3556000"/>
            <a:ext cx="1270000" cy="241300"/>
          </a:xfrm>
          <a:prstGeom prst="roundRect">
            <a:avLst/>
          </a:prstGeom>
          <a:solidFill>
            <a:srgbClr val="0E2A4D"/>
          </a:solidFill>
          <a:ln w="1905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曹桂涛 role"/>
          <p:cNvSpPr txBox="1"/>
          <p:nvPr/>
        </p:nvSpPr>
        <p:spPr>
          <a:xfrm>
            <a:off x="5523865" y="3606800"/>
            <a:ext cx="11430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前端核心交互整合</a:t>
            </a:r>
            <a:endParaRPr lang="zh-CN" sz="1300" b="1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曹桂涛 intro"/>
          <p:cNvSpPr txBox="1"/>
          <p:nvPr/>
        </p:nvSpPr>
        <p:spPr>
          <a:xfrm>
            <a:off x="4799965" y="3968750"/>
            <a:ext cx="2590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3D 可视化实现</a:t>
            </a:r>
            <a:endParaRPr lang="zh-CN" sz="13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曹桂涛 divider"/>
          <p:cNvSpPr/>
          <p:nvPr/>
        </p:nvSpPr>
        <p:spPr>
          <a:xfrm>
            <a:off x="4952365" y="4476750"/>
            <a:ext cx="2286000" cy="19050"/>
          </a:xfrm>
          <a:prstGeom prst="rect">
            <a:avLst/>
          </a:prstGeom>
          <a:solidFill>
            <a:srgbClr val="FFD166"/>
          </a:solidFill>
          <a:ln w="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曹桂涛 duties"/>
          <p:cNvSpPr txBox="1"/>
          <p:nvPr/>
        </p:nvSpPr>
        <p:spPr>
          <a:xfrm>
            <a:off x="4850765" y="4667250"/>
            <a:ext cx="24892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>
                <a:solidFill>
                  <a:srgbClr val="E5F2FF"/>
                </a:solidFill>
                <a:latin typeface="微软雅黑" panose="020B0503020204020204" charset="-122"/>
                <a:ea typeface="微软雅黑" panose="020B0503020204020204" charset="-122"/>
              </a:rPr>
              <a:t>文档与演示材料协作</a:t>
            </a:r>
            <a:endParaRPr lang="zh-CN" sz="1400">
              <a:solidFill>
                <a:srgbClr val="E5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>
                <a:solidFill>
                  <a:srgbClr val="E5F2FF"/>
                </a:solidFill>
                <a:latin typeface="微软雅黑" panose="020B0503020204020204" charset="-122"/>
                <a:ea typeface="微软雅黑" panose="020B0503020204020204" charset="-122"/>
              </a:rPr>
              <a:t>曹桂涛</a:t>
            </a:r>
            <a:endParaRPr lang="zh-CN" sz="1400">
              <a:solidFill>
                <a:srgbClr val="E5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>
                <a:solidFill>
                  <a:srgbClr val="E5F2FF"/>
                </a:solidFill>
                <a:latin typeface="微软雅黑" panose="020B0503020204020204" charset="-122"/>
                <a:ea typeface="微软雅黑" panose="020B0503020204020204" charset="-122"/>
              </a:rPr>
              <a:t>指导老师</a:t>
            </a:r>
            <a:endParaRPr lang="zh-CN" sz="1400">
              <a:solidFill>
                <a:srgbClr val="E5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为什么需要这个项目？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neon card"/>
          <p:cNvSpPr/>
          <p:nvPr/>
        </p:nvSpPr>
        <p:spPr>
          <a:xfrm>
            <a:off x="571500" y="1619250"/>
            <a:ext cx="2476500" cy="2603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card inner"/>
          <p:cNvSpPr/>
          <p:nvPr/>
        </p:nvSpPr>
        <p:spPr>
          <a:xfrm>
            <a:off x="635000" y="1682750"/>
            <a:ext cx="2349500" cy="2476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card title"/>
          <p:cNvSpPr txBox="1"/>
          <p:nvPr/>
        </p:nvSpPr>
        <p:spPr>
          <a:xfrm>
            <a:off x="749300" y="1784350"/>
            <a:ext cx="2120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普通用户看全球市场，不缺网站，缺的是一个能把数据、时间、来源和体验整合起来的轻量工具。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card body"/>
          <p:cNvSpPr txBox="1"/>
          <p:nvPr/>
        </p:nvSpPr>
        <p:spPr>
          <a:xfrm>
            <a:off x="749300" y="2114550"/>
            <a:ext cx="21209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信息分散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neon card"/>
          <p:cNvSpPr/>
          <p:nvPr/>
        </p:nvSpPr>
        <p:spPr>
          <a:xfrm>
            <a:off x="3365500" y="1619250"/>
            <a:ext cx="2476500" cy="2603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card inner"/>
          <p:cNvSpPr/>
          <p:nvPr/>
        </p:nvSpPr>
        <p:spPr>
          <a:xfrm>
            <a:off x="3429000" y="1682750"/>
            <a:ext cx="2349500" cy="2476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card title"/>
          <p:cNvSpPr txBox="1"/>
          <p:nvPr/>
        </p:nvSpPr>
        <p:spPr>
          <a:xfrm>
            <a:off x="3543300" y="1784350"/>
            <a:ext cx="2120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汇率、指数、市场时间散落在不同网站，切换成本高。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card body"/>
          <p:cNvSpPr txBox="1"/>
          <p:nvPr/>
        </p:nvSpPr>
        <p:spPr>
          <a:xfrm>
            <a:off x="3543300" y="2114550"/>
            <a:ext cx="21209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来源不清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neon card"/>
          <p:cNvSpPr/>
          <p:nvPr/>
        </p:nvSpPr>
        <p:spPr>
          <a:xfrm>
            <a:off x="6159500" y="1619250"/>
            <a:ext cx="2476500" cy="2603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A78BF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card inner"/>
          <p:cNvSpPr/>
          <p:nvPr/>
        </p:nvSpPr>
        <p:spPr>
          <a:xfrm>
            <a:off x="6223000" y="1682750"/>
            <a:ext cx="2349500" cy="2476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card title"/>
          <p:cNvSpPr txBox="1"/>
          <p:nvPr/>
        </p:nvSpPr>
        <p:spPr>
          <a:xfrm>
            <a:off x="6337300" y="1784350"/>
            <a:ext cx="2120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免费数据可能延迟，但很多页面不告诉用户质量状态。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ard body"/>
          <p:cNvSpPr txBox="1"/>
          <p:nvPr/>
        </p:nvSpPr>
        <p:spPr>
          <a:xfrm>
            <a:off x="6337300" y="2114550"/>
            <a:ext cx="21209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部署困难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neon card"/>
          <p:cNvSpPr/>
          <p:nvPr/>
        </p:nvSpPr>
        <p:spPr>
          <a:xfrm>
            <a:off x="8953500" y="1619250"/>
            <a:ext cx="2476500" cy="2603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card inner"/>
          <p:cNvSpPr/>
          <p:nvPr/>
        </p:nvSpPr>
        <p:spPr>
          <a:xfrm>
            <a:off x="9017000" y="1682750"/>
            <a:ext cx="2349500" cy="2476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card title"/>
          <p:cNvSpPr txBox="1"/>
          <p:nvPr/>
        </p:nvSpPr>
        <p:spPr>
          <a:xfrm>
            <a:off x="9131300" y="1784350"/>
            <a:ext cx="2120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很多作品只能本机看，评委和同学无法直接访问体验。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card body"/>
          <p:cNvSpPr txBox="1"/>
          <p:nvPr/>
        </p:nvSpPr>
        <p:spPr>
          <a:xfrm>
            <a:off x="9131300" y="2114550"/>
            <a:ext cx="21209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体验割裂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bottom"/>
          <p:cNvSpPr txBox="1"/>
          <p:nvPr/>
        </p:nvSpPr>
        <p:spPr>
          <a:xfrm>
            <a:off x="1397000" y="4857750"/>
            <a:ext cx="9398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跨时区市场难理解，图表、换算和来源核验不在同一工作流。</a:t>
            </a:r>
            <a:endParaRPr lang="zh-CN"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产品主界面：一屏式金融控制台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phone shadow"/>
          <p:cNvSpPr/>
          <p:nvPr/>
        </p:nvSpPr>
        <p:spPr>
          <a:xfrm>
            <a:off x="685800" y="1555750"/>
            <a:ext cx="1739900" cy="35941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phone frame"/>
          <p:cNvSpPr/>
          <p:nvPr/>
        </p:nvSpPr>
        <p:spPr>
          <a:xfrm>
            <a:off x="762000" y="1492250"/>
            <a:ext cx="1587500" cy="34417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phone label"/>
          <p:cNvSpPr txBox="1"/>
          <p:nvPr/>
        </p:nvSpPr>
        <p:spPr>
          <a:xfrm>
            <a:off x="698500" y="5048250"/>
            <a:ext cx="1714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不是营销首页，而是打开即可使用的市场观察工作台。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hone cap"/>
          <p:cNvSpPr txBox="1"/>
          <p:nvPr/>
        </p:nvSpPr>
        <p:spPr>
          <a:xfrm>
            <a:off x="603250" y="525145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全球时钟 + 3D 地球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phone shadow"/>
          <p:cNvSpPr/>
          <p:nvPr/>
        </p:nvSpPr>
        <p:spPr>
          <a:xfrm>
            <a:off x="3098800" y="1555750"/>
            <a:ext cx="1739900" cy="35941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phone frame"/>
          <p:cNvSpPr/>
          <p:nvPr/>
        </p:nvSpPr>
        <p:spPr>
          <a:xfrm>
            <a:off x="3175000" y="1492250"/>
            <a:ext cx="1587500" cy="34417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phone label"/>
          <p:cNvSpPr txBox="1"/>
          <p:nvPr/>
        </p:nvSpPr>
        <p:spPr>
          <a:xfrm>
            <a:off x="3111500" y="5048250"/>
            <a:ext cx="1714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拖拽旋转、点击光点、时钟卡片联动，市场时间实时跳动。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phone cap"/>
          <p:cNvSpPr txBox="1"/>
          <p:nvPr/>
        </p:nvSpPr>
        <p:spPr>
          <a:xfrm>
            <a:off x="3016250" y="525145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汇率 + 换汇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phone shadow"/>
          <p:cNvSpPr/>
          <p:nvPr/>
        </p:nvSpPr>
        <p:spPr>
          <a:xfrm>
            <a:off x="5511800" y="1555750"/>
            <a:ext cx="1739900" cy="35941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phone frame"/>
          <p:cNvSpPr/>
          <p:nvPr/>
        </p:nvSpPr>
        <p:spPr>
          <a:xfrm>
            <a:off x="5588000" y="1492250"/>
            <a:ext cx="1587500" cy="34417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phone label"/>
          <p:cNvSpPr txBox="1"/>
          <p:nvPr/>
        </p:nvSpPr>
        <p:spPr>
          <a:xfrm>
            <a:off x="5524500" y="5048250"/>
            <a:ext cx="1714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基础货币可选，高精度自适应显示，官方来源可跳转。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phone cap"/>
          <p:cNvSpPr txBox="1"/>
          <p:nvPr/>
        </p:nvSpPr>
        <p:spPr>
          <a:xfrm>
            <a:off x="5429250" y="525145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全球指数 + 图表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neon card"/>
          <p:cNvSpPr/>
          <p:nvPr/>
        </p:nvSpPr>
        <p:spPr>
          <a:xfrm>
            <a:off x="8064500" y="1936750"/>
            <a:ext cx="2984500" cy="21590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card inner"/>
          <p:cNvSpPr/>
          <p:nvPr/>
        </p:nvSpPr>
        <p:spPr>
          <a:xfrm>
            <a:off x="8128000" y="2000250"/>
            <a:ext cx="2857500" cy="20320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card title"/>
          <p:cNvSpPr txBox="1"/>
          <p:nvPr/>
        </p:nvSpPr>
        <p:spPr>
          <a:xfrm>
            <a:off x="8242300" y="2101850"/>
            <a:ext cx="2628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中文名、涨跌幅、市场时间、北京时间、数据质量和趋势图。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card body"/>
          <p:cNvSpPr txBox="1"/>
          <p:nvPr/>
        </p:nvSpPr>
        <p:spPr>
          <a:xfrm>
            <a:off x="8242300" y="2432050"/>
            <a:ext cx="2628900" cy="157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偏好与搜索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暗浅主题、红绿习惯、货币/指数/代码搜索和 20 秒刷新。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flow"/>
          <p:cNvCxnSpPr/>
          <p:nvPr/>
        </p:nvCxnSpPr>
        <p:spPr>
          <a:xfrm>
            <a:off x="2413000" y="3206750"/>
            <a:ext cx="730250" cy="635"/>
          </a:xfrm>
          <a:prstGeom prst="line">
            <a:avLst/>
          </a:prstGeom>
          <a:ln w="38100">
            <a:solidFill>
              <a:srgbClr val="00D4FF"/>
            </a:solidFill>
            <a:headEnd type="triangle"/>
          </a:ln>
        </p:spPr>
      </p:cxnSp>
      <p:cxnSp>
        <p:nvCxnSpPr>
          <p:cNvPr id="49" name="flow"/>
          <p:cNvCxnSpPr/>
          <p:nvPr/>
        </p:nvCxnSpPr>
        <p:spPr>
          <a:xfrm>
            <a:off x="4826000" y="3206750"/>
            <a:ext cx="730250" cy="635"/>
          </a:xfrm>
          <a:prstGeom prst="line">
            <a:avLst/>
          </a:prstGeom>
          <a:ln w="38100">
            <a:solidFill>
              <a:srgbClr val="00D4FF"/>
            </a:solidFill>
            <a:headEnd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汇率模块：计算与权威核验分离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phone shadow"/>
          <p:cNvSpPr/>
          <p:nvPr/>
        </p:nvSpPr>
        <p:spPr>
          <a:xfrm>
            <a:off x="1035050" y="1460500"/>
            <a:ext cx="2057400" cy="42799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phone frame"/>
          <p:cNvSpPr/>
          <p:nvPr/>
        </p:nvSpPr>
        <p:spPr>
          <a:xfrm>
            <a:off x="1111250" y="1397000"/>
            <a:ext cx="1905000" cy="41275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phone label"/>
          <p:cNvSpPr txBox="1"/>
          <p:nvPr/>
        </p:nvSpPr>
        <p:spPr>
          <a:xfrm>
            <a:off x="1047750" y="56388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让用户既能快速换算，也能点击查看官方展示来源。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hone cap"/>
          <p:cNvSpPr txBox="1"/>
          <p:nvPr/>
        </p:nvSpPr>
        <p:spPr>
          <a:xfrm>
            <a:off x="952500" y="5842000"/>
            <a:ext cx="2222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常用货币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phone shadow"/>
          <p:cNvSpPr/>
          <p:nvPr/>
        </p:nvSpPr>
        <p:spPr>
          <a:xfrm>
            <a:off x="3575050" y="1460500"/>
            <a:ext cx="2057400" cy="42799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phone frame"/>
          <p:cNvSpPr/>
          <p:nvPr/>
        </p:nvSpPr>
        <p:spPr>
          <a:xfrm>
            <a:off x="3651250" y="1397000"/>
            <a:ext cx="1905000" cy="41275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phone label"/>
          <p:cNvSpPr txBox="1"/>
          <p:nvPr/>
        </p:nvSpPr>
        <p:spPr>
          <a:xfrm>
            <a:off x="3587750" y="56388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USD、CNY、EUR、JPY、GBP、HKD、AUD、CAD、CHF、SGD、KRW、INR。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phone cap"/>
          <p:cNvSpPr txBox="1"/>
          <p:nvPr/>
        </p:nvSpPr>
        <p:spPr>
          <a:xfrm>
            <a:off x="3492500" y="5842000"/>
            <a:ext cx="2222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基础货币可选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neon card"/>
          <p:cNvSpPr/>
          <p:nvPr/>
        </p:nvSpPr>
        <p:spPr>
          <a:xfrm>
            <a:off x="6604000" y="1555750"/>
            <a:ext cx="3937000" cy="11430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000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card inner"/>
          <p:cNvSpPr/>
          <p:nvPr/>
        </p:nvSpPr>
        <p:spPr>
          <a:xfrm>
            <a:off x="6667500" y="1619250"/>
            <a:ext cx="3810000" cy="10160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card title"/>
          <p:cNvSpPr txBox="1"/>
          <p:nvPr/>
        </p:nvSpPr>
        <p:spPr>
          <a:xfrm>
            <a:off x="6781800" y="1720850"/>
            <a:ext cx="35814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不固定 USD，用户可按自己的场景选择基准。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card body"/>
          <p:cNvSpPr txBox="1"/>
          <p:nvPr/>
        </p:nvSpPr>
        <p:spPr>
          <a:xfrm>
            <a:off x="6781800" y="2051050"/>
            <a:ext cx="3581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高精度换算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step1"/>
          <p:cNvSpPr/>
          <p:nvPr/>
        </p:nvSpPr>
        <p:spPr>
          <a:xfrm>
            <a:off x="6604000" y="3175000"/>
            <a:ext cx="1079500" cy="596900"/>
          </a:xfrm>
          <a:prstGeom prst="roundRect">
            <a:avLst/>
          </a:prstGeom>
          <a:solidFill>
            <a:srgbClr val="10213A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s1"/>
          <p:cNvSpPr txBox="1"/>
          <p:nvPr/>
        </p:nvSpPr>
        <p:spPr>
          <a:xfrm>
            <a:off x="6731000" y="3378200"/>
            <a:ext cx="825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内部保留完整数值，展示按数量级和币种自适应小数。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step2"/>
          <p:cNvSpPr/>
          <p:nvPr/>
        </p:nvSpPr>
        <p:spPr>
          <a:xfrm>
            <a:off x="8001000" y="3175000"/>
            <a:ext cx="1079500" cy="596900"/>
          </a:xfrm>
          <a:prstGeom prst="roundRect">
            <a:avLst/>
          </a:prstGeom>
          <a:solidFill>
            <a:srgbClr val="10213A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s2"/>
          <p:cNvSpPr txBox="1"/>
          <p:nvPr/>
        </p:nvSpPr>
        <p:spPr>
          <a:xfrm>
            <a:off x="8128000" y="3378200"/>
            <a:ext cx="825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官方跳转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step3"/>
          <p:cNvSpPr/>
          <p:nvPr/>
        </p:nvSpPr>
        <p:spPr>
          <a:xfrm>
            <a:off x="9398000" y="3175000"/>
            <a:ext cx="1079500" cy="596900"/>
          </a:xfrm>
          <a:prstGeom prst="roundRect">
            <a:avLst/>
          </a:prstGeom>
          <a:solidFill>
            <a:srgbClr val="10213A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s3"/>
          <p:cNvSpPr txBox="1"/>
          <p:nvPr/>
        </p:nvSpPr>
        <p:spPr>
          <a:xfrm>
            <a:off x="9525000" y="3378200"/>
            <a:ext cx="825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CNY 相关跳中国银行，国际参考跳 ECB 或相关央行页面。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a"/>
          <p:cNvCxnSpPr/>
          <p:nvPr/>
        </p:nvCxnSpPr>
        <p:spPr>
          <a:xfrm>
            <a:off x="7683500" y="3473450"/>
            <a:ext cx="285750" cy="635"/>
          </a:xfrm>
          <a:prstGeom prst="line">
            <a:avLst/>
          </a:prstGeom>
          <a:ln w="35560">
            <a:solidFill>
              <a:srgbClr val="00D4FF"/>
            </a:solidFill>
            <a:headEnd type="triangle"/>
          </a:ln>
        </p:spPr>
      </p:cxnSp>
      <p:cxnSp>
        <p:nvCxnSpPr>
          <p:cNvPr id="50" name="b"/>
          <p:cNvCxnSpPr/>
          <p:nvPr/>
        </p:nvCxnSpPr>
        <p:spPr>
          <a:xfrm>
            <a:off x="9080500" y="3473450"/>
            <a:ext cx="285750" cy="635"/>
          </a:xfrm>
          <a:prstGeom prst="line">
            <a:avLst/>
          </a:prstGeom>
          <a:ln w="35560">
            <a:solidFill>
              <a:srgbClr val="00D4FF"/>
            </a:solidFill>
            <a:headEnd type="triangle"/>
          </a:ln>
        </p:spPr>
      </p:cxnSp>
      <p:sp>
        <p:nvSpPr>
          <p:cNvPr id="51" name="neon card"/>
          <p:cNvSpPr/>
          <p:nvPr/>
        </p:nvSpPr>
        <p:spPr>
          <a:xfrm>
            <a:off x="6604000" y="4127500"/>
            <a:ext cx="3937000" cy="952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000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card inner"/>
          <p:cNvSpPr/>
          <p:nvPr/>
        </p:nvSpPr>
        <p:spPr>
          <a:xfrm>
            <a:off x="6667500" y="4191000"/>
            <a:ext cx="3810000" cy="825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card title"/>
          <p:cNvSpPr txBox="1"/>
          <p:nvPr/>
        </p:nvSpPr>
        <p:spPr>
          <a:xfrm>
            <a:off x="6781800" y="4292600"/>
            <a:ext cx="35814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API 数据源用于计算，官方页面用于用户核验。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card body"/>
          <p:cNvSpPr txBox="1"/>
          <p:nvPr/>
        </p:nvSpPr>
        <p:spPr>
          <a:xfrm>
            <a:off x="6781800" y="4622800"/>
            <a:ext cx="35814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全球指数：同源字段 + 三模式图表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phone shadow"/>
          <p:cNvSpPr/>
          <p:nvPr/>
        </p:nvSpPr>
        <p:spPr>
          <a:xfrm>
            <a:off x="1003300" y="1447800"/>
            <a:ext cx="2120900" cy="44069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phone frame"/>
          <p:cNvSpPr/>
          <p:nvPr/>
        </p:nvSpPr>
        <p:spPr>
          <a:xfrm>
            <a:off x="1079500" y="1384300"/>
            <a:ext cx="1968500" cy="42545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phone label"/>
          <p:cNvSpPr txBox="1"/>
          <p:nvPr/>
        </p:nvSpPr>
        <p:spPr>
          <a:xfrm>
            <a:off x="1016000" y="5753100"/>
            <a:ext cx="2095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指数点位、涨跌、涨跌幅和趋势图坚持真实优先，不用相近标的冒充。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hone cap"/>
          <p:cNvSpPr txBox="1"/>
          <p:nvPr/>
        </p:nvSpPr>
        <p:spPr>
          <a:xfrm>
            <a:off x="920750" y="59563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覆盖样本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phone shadow"/>
          <p:cNvSpPr/>
          <p:nvPr/>
        </p:nvSpPr>
        <p:spPr>
          <a:xfrm>
            <a:off x="3860800" y="1447800"/>
            <a:ext cx="2120900" cy="44069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phone frame"/>
          <p:cNvSpPr/>
          <p:nvPr/>
        </p:nvSpPr>
        <p:spPr>
          <a:xfrm>
            <a:off x="3937000" y="1384300"/>
            <a:ext cx="1968500" cy="42545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phone label"/>
          <p:cNvSpPr txBox="1"/>
          <p:nvPr/>
        </p:nvSpPr>
        <p:spPr>
          <a:xfrm>
            <a:off x="3873500" y="5753100"/>
            <a:ext cx="2095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美股三大、FTSE、DAX、CAC、Nikkei、Hang Seng、上证、沪深 300。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phone cap"/>
          <p:cNvSpPr txBox="1"/>
          <p:nvPr/>
        </p:nvSpPr>
        <p:spPr>
          <a:xfrm>
            <a:off x="3778250" y="59563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中文名展示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neon card"/>
          <p:cNvSpPr/>
          <p:nvPr/>
        </p:nvSpPr>
        <p:spPr>
          <a:xfrm>
            <a:off x="6858000" y="1619250"/>
            <a:ext cx="3556000" cy="1333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000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card inner"/>
          <p:cNvSpPr/>
          <p:nvPr/>
        </p:nvSpPr>
        <p:spPr>
          <a:xfrm>
            <a:off x="6921500" y="1682750"/>
            <a:ext cx="3429000" cy="1206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card title"/>
          <p:cNvSpPr txBox="1"/>
          <p:nvPr/>
        </p:nvSpPr>
        <p:spPr>
          <a:xfrm>
            <a:off x="7035800" y="1784350"/>
            <a:ext cx="32004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每个指数同时展示中文名、英文名和代码，降低理解门槛。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card body"/>
          <p:cNvSpPr txBox="1"/>
          <p:nvPr/>
        </p:nvSpPr>
        <p:spPr>
          <a:xfrm>
            <a:off x="7035800" y="2114550"/>
            <a:ext cx="32004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三模式图表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neon card"/>
          <p:cNvSpPr/>
          <p:nvPr/>
        </p:nvSpPr>
        <p:spPr>
          <a:xfrm>
            <a:off x="6858000" y="3333750"/>
            <a:ext cx="3556000" cy="1587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000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card inner"/>
          <p:cNvSpPr/>
          <p:nvPr/>
        </p:nvSpPr>
        <p:spPr>
          <a:xfrm>
            <a:off x="6921500" y="3397250"/>
            <a:ext cx="3429000" cy="1460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card title"/>
          <p:cNvSpPr txBox="1"/>
          <p:nvPr/>
        </p:nvSpPr>
        <p:spPr>
          <a:xfrm>
            <a:off x="7035800" y="3498850"/>
            <a:ext cx="32004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分时 / 日 K / 月 K，可全局切换，也可进入单指数详情。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card body"/>
          <p:cNvSpPr txBox="1"/>
          <p:nvPr/>
        </p:nvSpPr>
        <p:spPr>
          <a:xfrm>
            <a:off x="7035800" y="3829050"/>
            <a:ext cx="3200400" cy="1003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数据质量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big number"/>
          <p:cNvSpPr txBox="1"/>
          <p:nvPr/>
        </p:nvSpPr>
        <p:spPr>
          <a:xfrm>
            <a:off x="6826250" y="5238750"/>
            <a:ext cx="3746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实时、延迟、缓存、兜底都会明确标注，不伪装成交易级实时。</a:t>
            </a:r>
            <a:endParaRPr lang="zh-CN"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3D 交互地球：市场时间的空间化表达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phone shadow"/>
          <p:cNvSpPr/>
          <p:nvPr/>
        </p:nvSpPr>
        <p:spPr>
          <a:xfrm>
            <a:off x="622300" y="1492250"/>
            <a:ext cx="1803400" cy="372745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phone frame"/>
          <p:cNvSpPr/>
          <p:nvPr/>
        </p:nvSpPr>
        <p:spPr>
          <a:xfrm>
            <a:off x="698500" y="1428750"/>
            <a:ext cx="1651000" cy="357505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phone label"/>
          <p:cNvSpPr txBox="1"/>
          <p:nvPr/>
        </p:nvSpPr>
        <p:spPr>
          <a:xfrm>
            <a:off x="635000" y="51181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把时区、城市和市场位置从文字变成可拖拽、可点击、可联动的视觉体验。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hone cap"/>
          <p:cNvSpPr txBox="1"/>
          <p:nvPr/>
        </p:nvSpPr>
        <p:spPr>
          <a:xfrm>
            <a:off x="539750" y="5321300"/>
            <a:ext cx="1968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高精度优先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phone shadow"/>
          <p:cNvSpPr/>
          <p:nvPr/>
        </p:nvSpPr>
        <p:spPr>
          <a:xfrm>
            <a:off x="3098800" y="1492250"/>
            <a:ext cx="1803400" cy="372745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phone frame"/>
          <p:cNvSpPr/>
          <p:nvPr/>
        </p:nvSpPr>
        <p:spPr>
          <a:xfrm>
            <a:off x="3175000" y="1428750"/>
            <a:ext cx="1651000" cy="357505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phone label"/>
          <p:cNvSpPr txBox="1"/>
          <p:nvPr/>
        </p:nvSpPr>
        <p:spPr>
          <a:xfrm>
            <a:off x="3111500" y="51181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优先加载 Natural Earth 1:10m 边界，失败才进入可说明 fallback。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phone cap"/>
          <p:cNvSpPr txBox="1"/>
          <p:nvPr/>
        </p:nvSpPr>
        <p:spPr>
          <a:xfrm>
            <a:off x="3016250" y="5321300"/>
            <a:ext cx="1968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交互完整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phone shadow"/>
          <p:cNvSpPr/>
          <p:nvPr/>
        </p:nvSpPr>
        <p:spPr>
          <a:xfrm>
            <a:off x="5575300" y="1492250"/>
            <a:ext cx="1803400" cy="372745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phone frame"/>
          <p:cNvSpPr/>
          <p:nvPr/>
        </p:nvSpPr>
        <p:spPr>
          <a:xfrm>
            <a:off x="5651500" y="1428750"/>
            <a:ext cx="1651000" cy="357505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phone label"/>
          <p:cNvSpPr txBox="1"/>
          <p:nvPr/>
        </p:nvSpPr>
        <p:spPr>
          <a:xfrm>
            <a:off x="5588000" y="51181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拖拽惯性、点击光点选中、点击空白取消、卡片联动、tooltip 读秒。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phone cap"/>
          <p:cNvSpPr txBox="1"/>
          <p:nvPr/>
        </p:nvSpPr>
        <p:spPr>
          <a:xfrm>
            <a:off x="5492750" y="5321300"/>
            <a:ext cx="1968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视觉效果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neon card"/>
          <p:cNvSpPr/>
          <p:nvPr/>
        </p:nvSpPr>
        <p:spPr>
          <a:xfrm>
            <a:off x="8064500" y="2032000"/>
            <a:ext cx="2730500" cy="17780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card inner"/>
          <p:cNvSpPr/>
          <p:nvPr/>
        </p:nvSpPr>
        <p:spPr>
          <a:xfrm>
            <a:off x="8128000" y="2095500"/>
            <a:ext cx="2603500" cy="16510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card title"/>
          <p:cNvSpPr txBox="1"/>
          <p:nvPr/>
        </p:nvSpPr>
        <p:spPr>
          <a:xfrm>
            <a:off x="8242300" y="2197100"/>
            <a:ext cx="2374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海洋、陆地、海岸线、星空、市场弧线、气辉和城市光点。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card body"/>
          <p:cNvSpPr txBox="1"/>
          <p:nvPr/>
        </p:nvSpPr>
        <p:spPr>
          <a:xfrm>
            <a:off x="8242300" y="2527300"/>
            <a:ext cx="23749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性能控制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neon card"/>
          <p:cNvSpPr/>
          <p:nvPr/>
        </p:nvSpPr>
        <p:spPr>
          <a:xfrm>
            <a:off x="8064500" y="4191000"/>
            <a:ext cx="2730500" cy="1079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000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card inner"/>
          <p:cNvSpPr/>
          <p:nvPr/>
        </p:nvSpPr>
        <p:spPr>
          <a:xfrm>
            <a:off x="8128000" y="4254500"/>
            <a:ext cx="2603500" cy="952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card title"/>
          <p:cNvSpPr txBox="1"/>
          <p:nvPr/>
        </p:nvSpPr>
        <p:spPr>
          <a:xfrm>
            <a:off x="8242300" y="4356100"/>
            <a:ext cx="2374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requestAnimationFrame 渲染，页面隐藏时降低负载，移动端固定高度。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card body"/>
          <p:cNvSpPr txBox="1"/>
          <p:nvPr/>
        </p:nvSpPr>
        <p:spPr>
          <a:xfrm>
            <a:off x="8242300" y="4686300"/>
            <a:ext cx="23749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49" name="globe-interaction.svg"/>
          <p:cNvPicPr/>
          <p:nvPr/>
        </p:nvPicPr>
        <p:blipFill>
          <a:blip r:embed="rIdFinancialVisual8"/>
          <a:stretch>
            <a:fillRect/>
          </a:stretch>
        </p:blipFill>
        <p:spPr>
          <a:xfrm>
            <a:off x="6100000" y="1860000"/>
            <a:ext cx="5600000" cy="31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系统总体架构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loop node"/>
          <p:cNvSpPr/>
          <p:nvPr/>
        </p:nvSpPr>
        <p:spPr>
          <a:xfrm>
            <a:off x="698500" y="1841500"/>
            <a:ext cx="1809750" cy="800100"/>
          </a:xfrm>
          <a:prstGeom prst="roundRect">
            <a:avLst/>
          </a:prstGeom>
          <a:solidFill>
            <a:srgbClr val="0E2A4D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loop text"/>
          <p:cNvSpPr txBox="1"/>
          <p:nvPr/>
        </p:nvSpPr>
        <p:spPr>
          <a:xfrm>
            <a:off x="812800" y="2006600"/>
            <a:ext cx="158115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本地服务降低部署门槛，统一 API 把多个免费公开源封装成前端可消费的数据结构。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浏览器前端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loop node"/>
          <p:cNvSpPr/>
          <p:nvPr/>
        </p:nvSpPr>
        <p:spPr>
          <a:xfrm>
            <a:off x="2941320" y="1645920"/>
            <a:ext cx="1821180" cy="1141730"/>
          </a:xfrm>
          <a:prstGeom prst="roundRect">
            <a:avLst/>
          </a:prstGeom>
          <a:solidFill>
            <a:srgbClr val="102B3D"/>
          </a:solidFill>
          <a:ln w="2286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loop text"/>
          <p:cNvSpPr txBox="1"/>
          <p:nvPr/>
        </p:nvSpPr>
        <p:spPr>
          <a:xfrm>
            <a:off x="3067050" y="2006600"/>
            <a:ext cx="158115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原生 HTML/CSS/JS + 本地 Three.js + SVG/Canvas 图表。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Python 后端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loop node"/>
          <p:cNvSpPr/>
          <p:nvPr/>
        </p:nvSpPr>
        <p:spPr>
          <a:xfrm>
            <a:off x="5207000" y="1687195"/>
            <a:ext cx="1810385" cy="1100455"/>
          </a:xfrm>
          <a:prstGeom prst="roundRect">
            <a:avLst/>
          </a:prstGeom>
          <a:solidFill>
            <a:srgbClr val="352713"/>
          </a:solidFill>
          <a:ln w="2286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loop text"/>
          <p:cNvSpPr txBox="1"/>
          <p:nvPr/>
        </p:nvSpPr>
        <p:spPr>
          <a:xfrm>
            <a:off x="5321300" y="2006600"/>
            <a:ext cx="158115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/api/fx /api/indices /api/trends /api/health /api/diagnostics。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数据源适配器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loop node"/>
          <p:cNvSpPr/>
          <p:nvPr/>
        </p:nvSpPr>
        <p:spPr>
          <a:xfrm>
            <a:off x="5207000" y="3873500"/>
            <a:ext cx="1809750" cy="800100"/>
          </a:xfrm>
          <a:prstGeom prst="roundRect">
            <a:avLst/>
          </a:prstGeom>
          <a:solidFill>
            <a:srgbClr val="241A3D"/>
          </a:solidFill>
          <a:ln w="22860">
            <a:solidFill>
              <a:srgbClr val="A78BF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loop text"/>
          <p:cNvSpPr txBox="1"/>
          <p:nvPr/>
        </p:nvSpPr>
        <p:spPr>
          <a:xfrm>
            <a:off x="5321300" y="4038600"/>
            <a:ext cx="158115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Frankfurter、Sina Finance、Stooq、Yahoo、Natural Earth。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缓存与诊断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loop node"/>
          <p:cNvSpPr/>
          <p:nvPr/>
        </p:nvSpPr>
        <p:spPr>
          <a:xfrm>
            <a:off x="2952750" y="3873500"/>
            <a:ext cx="1809750" cy="800100"/>
          </a:xfrm>
          <a:prstGeom prst="roundRect">
            <a:avLst/>
          </a:prstGeom>
          <a:solidFill>
            <a:srgbClr val="351827"/>
          </a:solidFill>
          <a:ln w="2286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loop text"/>
          <p:cNvSpPr txBox="1"/>
          <p:nvPr/>
        </p:nvSpPr>
        <p:spPr>
          <a:xfrm>
            <a:off x="3067050" y="4038600"/>
            <a:ext cx="158115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TTL 缓存、超时、失败原因、最近成功时间、接口耗时。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取舍：不靠重框架堆叠，优先保证本机可跑、现场可演示、别人可访问。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loop node"/>
          <p:cNvSpPr/>
          <p:nvPr/>
        </p:nvSpPr>
        <p:spPr>
          <a:xfrm>
            <a:off x="698500" y="3873500"/>
            <a:ext cx="1809750" cy="800100"/>
          </a:xfrm>
          <a:prstGeom prst="roundRect">
            <a:avLst/>
          </a:prstGeom>
          <a:solidFill>
            <a:srgbClr val="0C2B33"/>
          </a:solidFill>
          <a:ln w="22860">
            <a:solidFill>
              <a:srgbClr val="2EE8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loop text"/>
          <p:cNvSpPr txBox="1"/>
          <p:nvPr/>
        </p:nvSpPr>
        <p:spPr>
          <a:xfrm>
            <a:off x="812800" y="4038600"/>
            <a:ext cx="158115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a"/>
          <p:cNvCxnSpPr/>
          <p:nvPr/>
        </p:nvCxnSpPr>
        <p:spPr>
          <a:xfrm>
            <a:off x="2527300" y="2241550"/>
            <a:ext cx="406400" cy="635"/>
          </a:xfrm>
          <a:prstGeom prst="line">
            <a:avLst/>
          </a:prstGeom>
          <a:ln w="38100">
            <a:solidFill>
              <a:srgbClr val="00D4FF"/>
            </a:solidFill>
            <a:headEnd type="triangle"/>
          </a:ln>
        </p:spPr>
      </p:cxnSp>
      <p:cxnSp>
        <p:nvCxnSpPr>
          <p:cNvPr id="42" name="b"/>
          <p:cNvCxnSpPr/>
          <p:nvPr/>
        </p:nvCxnSpPr>
        <p:spPr>
          <a:xfrm>
            <a:off x="4781550" y="2241550"/>
            <a:ext cx="406400" cy="635"/>
          </a:xfrm>
          <a:prstGeom prst="line">
            <a:avLst/>
          </a:prstGeom>
          <a:ln w="38100">
            <a:solidFill>
              <a:srgbClr val="47F0A0"/>
            </a:solidFill>
            <a:headEnd type="triangle"/>
          </a:ln>
        </p:spPr>
      </p:cxnSp>
      <p:cxnSp>
        <p:nvCxnSpPr>
          <p:cNvPr id="43" name="c"/>
          <p:cNvCxnSpPr/>
          <p:nvPr/>
        </p:nvCxnSpPr>
        <p:spPr>
          <a:xfrm>
            <a:off x="6115050" y="2654300"/>
            <a:ext cx="635" cy="1200150"/>
          </a:xfrm>
          <a:prstGeom prst="line">
            <a:avLst/>
          </a:prstGeom>
          <a:ln w="38100">
            <a:solidFill>
              <a:srgbClr val="FFD166"/>
            </a:solidFill>
            <a:headEnd type="triangle"/>
          </a:ln>
        </p:spPr>
      </p:cxnSp>
      <p:cxnSp>
        <p:nvCxnSpPr>
          <p:cNvPr id="44" name="d"/>
          <p:cNvCxnSpPr/>
          <p:nvPr/>
        </p:nvCxnSpPr>
        <p:spPr>
          <a:xfrm flipH="1">
            <a:off x="4800600" y="4273550"/>
            <a:ext cx="406400" cy="635"/>
          </a:xfrm>
          <a:prstGeom prst="line">
            <a:avLst/>
          </a:prstGeom>
          <a:ln w="38100">
            <a:solidFill>
              <a:srgbClr val="A78BFA"/>
            </a:solidFill>
            <a:headEnd type="triangle"/>
          </a:ln>
        </p:spPr>
      </p:cxnSp>
      <p:cxnSp>
        <p:nvCxnSpPr>
          <p:cNvPr id="45" name="e"/>
          <p:cNvCxnSpPr/>
          <p:nvPr/>
        </p:nvCxnSpPr>
        <p:spPr>
          <a:xfrm flipH="1">
            <a:off x="2546350" y="4273550"/>
            <a:ext cx="406400" cy="635"/>
          </a:xfrm>
          <a:prstGeom prst="line">
            <a:avLst/>
          </a:prstGeom>
          <a:ln w="38100">
            <a:solidFill>
              <a:srgbClr val="FF6B8A"/>
            </a:solidFill>
            <a:headEnd type="triangle"/>
          </a:ln>
        </p:spPr>
      </p:cxnSp>
      <p:cxnSp>
        <p:nvCxnSpPr>
          <p:cNvPr id="46" name="f"/>
          <p:cNvCxnSpPr/>
          <p:nvPr/>
        </p:nvCxnSpPr>
        <p:spPr>
          <a:xfrm flipV="1">
            <a:off x="1606550" y="2667000"/>
            <a:ext cx="635" cy="1206500"/>
          </a:xfrm>
          <a:prstGeom prst="line">
            <a:avLst/>
          </a:prstGeom>
          <a:ln w="38100">
            <a:solidFill>
              <a:srgbClr val="2EE8FF"/>
            </a:solidFill>
            <a:headEnd type="triangle"/>
          </a:ln>
        </p:spPr>
      </p:cxnSp>
      <p:sp>
        <p:nvSpPr>
          <p:cNvPr id="47" name="neon card"/>
          <p:cNvSpPr/>
          <p:nvPr/>
        </p:nvSpPr>
        <p:spPr>
          <a:xfrm>
            <a:off x="7937500" y="2254250"/>
            <a:ext cx="2984500" cy="20320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card inner"/>
          <p:cNvSpPr/>
          <p:nvPr/>
        </p:nvSpPr>
        <p:spPr>
          <a:xfrm>
            <a:off x="8001000" y="2317750"/>
            <a:ext cx="2857500" cy="19050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card title"/>
          <p:cNvSpPr txBox="1"/>
          <p:nvPr/>
        </p:nvSpPr>
        <p:spPr>
          <a:xfrm>
            <a:off x="8115300" y="2419350"/>
            <a:ext cx="2628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card body"/>
          <p:cNvSpPr txBox="1"/>
          <p:nvPr/>
        </p:nvSpPr>
        <p:spPr>
          <a:xfrm>
            <a:off x="8115300" y="2749550"/>
            <a:ext cx="26289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51" name="architecture.svg"/>
          <p:cNvPicPr/>
          <p:nvPr/>
        </p:nvPicPr>
        <p:blipFill>
          <a:blip r:embed="rIdFinancialVisual9"/>
          <a:stretch>
            <a:fillRect/>
          </a:stretch>
        </p:blipFill>
        <p:spPr>
          <a:xfrm>
            <a:off x="6100000" y="1860000"/>
            <a:ext cx="5600000" cy="31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数据可信与后端稳定性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arch node"/>
          <p:cNvSpPr/>
          <p:nvPr/>
        </p:nvSpPr>
        <p:spPr>
          <a:xfrm>
            <a:off x="635000" y="1742440"/>
            <a:ext cx="2178685" cy="1077595"/>
          </a:xfrm>
          <a:prstGeom prst="roundRect">
            <a:avLst/>
          </a:prstGeom>
          <a:solidFill>
            <a:srgbClr val="0E2A4D"/>
          </a:solidFill>
          <a:ln w="2413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arch text"/>
          <p:cNvSpPr txBox="1"/>
          <p:nvPr/>
        </p:nvSpPr>
        <p:spPr>
          <a:xfrm>
            <a:off x="762000" y="2000250"/>
            <a:ext cx="190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免费公开源天然有波动，所以系统必须能解释、能兜底、能被检查。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同源字段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指数涨跌幅使用来源返回字段，不用错误基准自行推算。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arch node"/>
          <p:cNvSpPr/>
          <p:nvPr/>
        </p:nvSpPr>
        <p:spPr>
          <a:xfrm>
            <a:off x="3397250" y="1841500"/>
            <a:ext cx="2159000" cy="952500"/>
          </a:xfrm>
          <a:prstGeom prst="roundRect">
            <a:avLst/>
          </a:prstGeom>
          <a:solidFill>
            <a:srgbClr val="102B3D"/>
          </a:solidFill>
          <a:ln w="2413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arch text"/>
          <p:cNvSpPr txBox="1"/>
          <p:nvPr/>
        </p:nvSpPr>
        <p:spPr>
          <a:xfrm>
            <a:off x="3524250" y="2000250"/>
            <a:ext cx="190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分层缓存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汇率/指数短缓存，趋势图较长缓存，降低 20 秒刷新压力。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失败兜底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arch node"/>
          <p:cNvSpPr/>
          <p:nvPr/>
        </p:nvSpPr>
        <p:spPr>
          <a:xfrm>
            <a:off x="6159500" y="1645920"/>
            <a:ext cx="2172970" cy="1315720"/>
          </a:xfrm>
          <a:prstGeom prst="roundRect">
            <a:avLst/>
          </a:prstGeom>
          <a:solidFill>
            <a:srgbClr val="352713"/>
          </a:solidFill>
          <a:ln w="2413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arch text"/>
          <p:cNvSpPr txBox="1"/>
          <p:nvPr/>
        </p:nvSpPr>
        <p:spPr>
          <a:xfrm>
            <a:off x="6286500" y="2000250"/>
            <a:ext cx="190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保留最近成功数据，显示缓存/延迟/兜底状态。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诊断接口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/api/diagnostics 输出数据源状态、缓存年龄、耗时和失败原因。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rch node"/>
          <p:cNvSpPr/>
          <p:nvPr/>
        </p:nvSpPr>
        <p:spPr>
          <a:xfrm>
            <a:off x="6159500" y="3550920"/>
            <a:ext cx="2158365" cy="1607820"/>
          </a:xfrm>
          <a:prstGeom prst="roundRect">
            <a:avLst/>
          </a:prstGeom>
          <a:solidFill>
            <a:srgbClr val="241A3D"/>
          </a:solidFill>
          <a:ln w="24130">
            <a:solidFill>
              <a:srgbClr val="A78BF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arch text"/>
          <p:cNvSpPr txBox="1"/>
          <p:nvPr/>
        </p:nvSpPr>
        <p:spPr>
          <a:xfrm>
            <a:off x="6286500" y="4095750"/>
            <a:ext cx="190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金融产品的可信度来自透明边界，而不是夸大实时性。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arch node"/>
          <p:cNvSpPr/>
          <p:nvPr/>
        </p:nvSpPr>
        <p:spPr>
          <a:xfrm>
            <a:off x="3397250" y="3856355"/>
            <a:ext cx="2190750" cy="1033145"/>
          </a:xfrm>
          <a:prstGeom prst="roundRect">
            <a:avLst/>
          </a:prstGeom>
          <a:solidFill>
            <a:srgbClr val="351827"/>
          </a:solidFill>
          <a:ln w="2413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arch text"/>
          <p:cNvSpPr txBox="1"/>
          <p:nvPr/>
        </p:nvSpPr>
        <p:spPr>
          <a:xfrm>
            <a:off x="3524250" y="4095750"/>
            <a:ext cx="1905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a"/>
          <p:cNvCxnSpPr/>
          <p:nvPr/>
        </p:nvCxnSpPr>
        <p:spPr>
          <a:xfrm>
            <a:off x="2813050" y="2317750"/>
            <a:ext cx="552450" cy="635"/>
          </a:xfrm>
          <a:prstGeom prst="line">
            <a:avLst/>
          </a:prstGeom>
          <a:ln w="38100">
            <a:solidFill>
              <a:srgbClr val="00D4FF"/>
            </a:solidFill>
            <a:headEnd type="triangle"/>
          </a:ln>
        </p:spPr>
      </p:cxnSp>
      <p:cxnSp>
        <p:nvCxnSpPr>
          <p:cNvPr id="40" name="b"/>
          <p:cNvCxnSpPr/>
          <p:nvPr/>
        </p:nvCxnSpPr>
        <p:spPr>
          <a:xfrm>
            <a:off x="5575300" y="2317750"/>
            <a:ext cx="552450" cy="635"/>
          </a:xfrm>
          <a:prstGeom prst="line">
            <a:avLst/>
          </a:prstGeom>
          <a:ln w="38100">
            <a:solidFill>
              <a:srgbClr val="FFD166"/>
            </a:solidFill>
            <a:headEnd type="triangle"/>
          </a:ln>
        </p:spPr>
      </p:cxnSp>
      <p:cxnSp>
        <p:nvCxnSpPr>
          <p:cNvPr id="41" name="c"/>
          <p:cNvCxnSpPr/>
          <p:nvPr/>
        </p:nvCxnSpPr>
        <p:spPr>
          <a:xfrm>
            <a:off x="7247890" y="2996565"/>
            <a:ext cx="0" cy="504190"/>
          </a:xfrm>
          <a:prstGeom prst="line">
            <a:avLst/>
          </a:prstGeom>
          <a:ln w="38100">
            <a:solidFill>
              <a:srgbClr val="A78BFA"/>
            </a:solidFill>
            <a:headEnd type="triangle"/>
          </a:ln>
        </p:spPr>
      </p:cxnSp>
      <p:cxnSp>
        <p:nvCxnSpPr>
          <p:cNvPr id="42" name="d"/>
          <p:cNvCxnSpPr/>
          <p:nvPr/>
        </p:nvCxnSpPr>
        <p:spPr>
          <a:xfrm flipH="1">
            <a:off x="5588000" y="4413250"/>
            <a:ext cx="539750" cy="635"/>
          </a:xfrm>
          <a:prstGeom prst="line">
            <a:avLst/>
          </a:prstGeom>
          <a:ln w="38100">
            <a:solidFill>
              <a:srgbClr val="FF6B8A"/>
            </a:solidFill>
            <a:headEnd type="triangle"/>
          </a:ln>
        </p:spPr>
      </p:cxnSp>
      <p:cxnSp>
        <p:nvCxnSpPr>
          <p:cNvPr id="43" name="e"/>
          <p:cNvCxnSpPr/>
          <p:nvPr/>
        </p:nvCxnSpPr>
        <p:spPr>
          <a:xfrm flipV="1">
            <a:off x="4439920" y="2819400"/>
            <a:ext cx="37465" cy="969645"/>
          </a:xfrm>
          <a:prstGeom prst="line">
            <a:avLst/>
          </a:prstGeom>
          <a:ln w="38100">
            <a:solidFill>
              <a:srgbClr val="47F0A0"/>
            </a:solidFill>
            <a:headEnd type="triangle"/>
          </a:ln>
        </p:spPr>
      </p:cxnSp>
      <p:sp>
        <p:nvSpPr>
          <p:cNvPr id="44" name="neon card"/>
          <p:cNvSpPr/>
          <p:nvPr/>
        </p:nvSpPr>
        <p:spPr>
          <a:xfrm>
            <a:off x="8985250" y="2349500"/>
            <a:ext cx="2286000" cy="2095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card inner"/>
          <p:cNvSpPr/>
          <p:nvPr/>
        </p:nvSpPr>
        <p:spPr>
          <a:xfrm>
            <a:off x="9048750" y="2413000"/>
            <a:ext cx="2159000" cy="1968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card title"/>
          <p:cNvSpPr txBox="1"/>
          <p:nvPr/>
        </p:nvSpPr>
        <p:spPr>
          <a:xfrm>
            <a:off x="9163050" y="2514600"/>
            <a:ext cx="19304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card body"/>
          <p:cNvSpPr txBox="1"/>
          <p:nvPr/>
        </p:nvSpPr>
        <p:spPr>
          <a:xfrm>
            <a:off x="9163050" y="2844800"/>
            <a:ext cx="1930400" cy="151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48" name="data-flow.svg"/>
          <p:cNvPicPr/>
          <p:nvPr/>
        </p:nvPicPr>
        <p:blipFill>
          <a:blip r:embed="rIdFinancialVisual10"/>
          <a:stretch>
            <a:fillRect/>
          </a:stretch>
        </p:blipFill>
        <p:spPr>
          <a:xfrm>
            <a:off x="6100000" y="1860000"/>
            <a:ext cx="5600000" cy="31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体验与动画设计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sync node"/>
          <p:cNvSpPr/>
          <p:nvPr/>
        </p:nvSpPr>
        <p:spPr>
          <a:xfrm>
            <a:off x="635000" y="1828800"/>
            <a:ext cx="1809750" cy="825500"/>
          </a:xfrm>
          <a:prstGeom prst="roundRect">
            <a:avLst/>
          </a:prstGeom>
          <a:solidFill>
            <a:srgbClr val="0E2A4D"/>
          </a:solidFill>
          <a:ln w="2413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sync text"/>
          <p:cNvSpPr txBox="1"/>
          <p:nvPr/>
        </p:nvSpPr>
        <p:spPr>
          <a:xfrm>
            <a:off x="736600" y="1987550"/>
            <a:ext cx="16065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金融看板要快、稳、清楚，同时具备足够展示冲击力。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主题系统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ync node"/>
          <p:cNvSpPr/>
          <p:nvPr/>
        </p:nvSpPr>
        <p:spPr>
          <a:xfrm>
            <a:off x="2984500" y="1828800"/>
            <a:ext cx="1809750" cy="825500"/>
          </a:xfrm>
          <a:prstGeom prst="roundRect">
            <a:avLst/>
          </a:prstGeom>
          <a:solidFill>
            <a:srgbClr val="102B3D"/>
          </a:solidFill>
          <a:ln w="2413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sync text"/>
          <p:cNvSpPr txBox="1"/>
          <p:nvPr/>
        </p:nvSpPr>
        <p:spPr>
          <a:xfrm>
            <a:off x="3086100" y="1987550"/>
            <a:ext cx="16065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暗色模式突出科技感，浅色模式适合答辩展示和阅读。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红绿习惯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sync node"/>
          <p:cNvSpPr/>
          <p:nvPr/>
        </p:nvSpPr>
        <p:spPr>
          <a:xfrm>
            <a:off x="5334000" y="1828800"/>
            <a:ext cx="1809750" cy="825500"/>
          </a:xfrm>
          <a:prstGeom prst="roundRect">
            <a:avLst/>
          </a:prstGeom>
          <a:solidFill>
            <a:srgbClr val="352713"/>
          </a:solidFill>
          <a:ln w="2413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sync text"/>
          <p:cNvSpPr txBox="1"/>
          <p:nvPr/>
        </p:nvSpPr>
        <p:spPr>
          <a:xfrm>
            <a:off x="5435600" y="1987550"/>
            <a:ext cx="16065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支持红涨绿跌 / 绿涨红跌，适配中西方市场认知。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丝滑动画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ync node"/>
          <p:cNvSpPr/>
          <p:nvPr/>
        </p:nvSpPr>
        <p:spPr>
          <a:xfrm>
            <a:off x="635000" y="3873500"/>
            <a:ext cx="1809750" cy="825500"/>
          </a:xfrm>
          <a:prstGeom prst="roundRect">
            <a:avLst/>
          </a:prstGeom>
          <a:solidFill>
            <a:srgbClr val="0C2B33"/>
          </a:solidFill>
          <a:ln w="24130">
            <a:solidFill>
              <a:srgbClr val="2EE8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sync text"/>
          <p:cNvSpPr txBox="1"/>
          <p:nvPr/>
        </p:nvSpPr>
        <p:spPr>
          <a:xfrm>
            <a:off x="736600" y="4032250"/>
            <a:ext cx="16065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transform、opacity、requestAnimationFrame、SVG 过渡和 View Transition 思路。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响应式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sync node"/>
          <p:cNvSpPr/>
          <p:nvPr/>
        </p:nvSpPr>
        <p:spPr>
          <a:xfrm>
            <a:off x="2984500" y="3873500"/>
            <a:ext cx="1809750" cy="825500"/>
          </a:xfrm>
          <a:prstGeom prst="roundRect">
            <a:avLst/>
          </a:prstGeom>
          <a:solidFill>
            <a:srgbClr val="351827"/>
          </a:solidFill>
          <a:ln w="2413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sync text"/>
          <p:cNvSpPr txBox="1"/>
          <p:nvPr/>
        </p:nvSpPr>
        <p:spPr>
          <a:xfrm>
            <a:off x="3086100" y="4032250"/>
            <a:ext cx="16065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移动端固定地球高度，表格横向滚动，按钮和文字避免重叠。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体验目标：用户第一次打开就能理解，连续操作也不卡顿。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sync node"/>
          <p:cNvSpPr/>
          <p:nvPr/>
        </p:nvSpPr>
        <p:spPr>
          <a:xfrm>
            <a:off x="5334000" y="3873500"/>
            <a:ext cx="1809750" cy="825500"/>
          </a:xfrm>
          <a:prstGeom prst="roundRect">
            <a:avLst/>
          </a:prstGeom>
          <a:solidFill>
            <a:srgbClr val="241A3D"/>
          </a:solidFill>
          <a:ln w="24130">
            <a:solidFill>
              <a:srgbClr val="A78BF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sync text"/>
          <p:cNvSpPr txBox="1"/>
          <p:nvPr/>
        </p:nvSpPr>
        <p:spPr>
          <a:xfrm>
            <a:off x="5435600" y="4032250"/>
            <a:ext cx="16065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sync node"/>
          <p:cNvSpPr/>
          <p:nvPr/>
        </p:nvSpPr>
        <p:spPr>
          <a:xfrm>
            <a:off x="8001000" y="2566035"/>
            <a:ext cx="1812290" cy="1370330"/>
          </a:xfrm>
          <a:prstGeom prst="roundRect">
            <a:avLst/>
          </a:prstGeom>
          <a:solidFill>
            <a:srgbClr val="0B1728"/>
          </a:solidFill>
          <a:ln w="24130">
            <a:solidFill>
              <a:srgbClr val="8EA4C4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sync text"/>
          <p:cNvSpPr txBox="1"/>
          <p:nvPr/>
        </p:nvSpPr>
        <p:spPr>
          <a:xfrm>
            <a:off x="8102600" y="2984500"/>
            <a:ext cx="16065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3" name="a"/>
          <p:cNvCxnSpPr/>
          <p:nvPr/>
        </p:nvCxnSpPr>
        <p:spPr>
          <a:xfrm>
            <a:off x="2463800" y="2241550"/>
            <a:ext cx="495300" cy="635"/>
          </a:xfrm>
          <a:prstGeom prst="line">
            <a:avLst/>
          </a:prstGeom>
          <a:ln w="38100">
            <a:solidFill>
              <a:srgbClr val="47F0A0"/>
            </a:solidFill>
            <a:headEnd type="triangle"/>
          </a:ln>
        </p:spPr>
      </p:cxnSp>
      <p:cxnSp>
        <p:nvCxnSpPr>
          <p:cNvPr id="44" name="b"/>
          <p:cNvCxnSpPr/>
          <p:nvPr/>
        </p:nvCxnSpPr>
        <p:spPr>
          <a:xfrm>
            <a:off x="4813300" y="2241550"/>
            <a:ext cx="495300" cy="635"/>
          </a:xfrm>
          <a:prstGeom prst="line">
            <a:avLst/>
          </a:prstGeom>
          <a:ln w="38100">
            <a:solidFill>
              <a:srgbClr val="FFD166"/>
            </a:solidFill>
            <a:headEnd type="triangle"/>
          </a:ln>
        </p:spPr>
      </p:cxnSp>
      <p:cxnSp>
        <p:nvCxnSpPr>
          <p:cNvPr id="45" name="c"/>
          <p:cNvCxnSpPr/>
          <p:nvPr/>
        </p:nvCxnSpPr>
        <p:spPr>
          <a:xfrm>
            <a:off x="1536700" y="2667000"/>
            <a:ext cx="635" cy="1181100"/>
          </a:xfrm>
          <a:prstGeom prst="line">
            <a:avLst/>
          </a:prstGeom>
          <a:ln w="38100">
            <a:solidFill>
              <a:srgbClr val="2EE8FF"/>
            </a:solidFill>
            <a:headEnd type="triangle"/>
          </a:ln>
        </p:spPr>
      </p:cxnSp>
      <p:cxnSp>
        <p:nvCxnSpPr>
          <p:cNvPr id="46" name="d"/>
          <p:cNvCxnSpPr/>
          <p:nvPr/>
        </p:nvCxnSpPr>
        <p:spPr>
          <a:xfrm>
            <a:off x="2463800" y="4286250"/>
            <a:ext cx="495300" cy="635"/>
          </a:xfrm>
          <a:prstGeom prst="line">
            <a:avLst/>
          </a:prstGeom>
          <a:ln w="38100">
            <a:solidFill>
              <a:srgbClr val="FF6B8A"/>
            </a:solidFill>
            <a:headEnd type="triangle"/>
          </a:ln>
        </p:spPr>
      </p:cxnSp>
      <p:cxnSp>
        <p:nvCxnSpPr>
          <p:cNvPr id="47" name="e"/>
          <p:cNvCxnSpPr/>
          <p:nvPr/>
        </p:nvCxnSpPr>
        <p:spPr>
          <a:xfrm>
            <a:off x="4813300" y="4286250"/>
            <a:ext cx="495300" cy="635"/>
          </a:xfrm>
          <a:prstGeom prst="line">
            <a:avLst/>
          </a:prstGeom>
          <a:ln w="38100">
            <a:solidFill>
              <a:srgbClr val="A78BFA"/>
            </a:solidFill>
            <a:headEnd type="triangle"/>
          </a:ln>
        </p:spPr>
      </p:cxnSp>
      <p:cxnSp>
        <p:nvCxnSpPr>
          <p:cNvPr id="48" name="f"/>
          <p:cNvCxnSpPr/>
          <p:nvPr/>
        </p:nvCxnSpPr>
        <p:spPr>
          <a:xfrm flipV="1">
            <a:off x="7162800" y="3302000"/>
            <a:ext cx="812800" cy="984250"/>
          </a:xfrm>
          <a:prstGeom prst="line">
            <a:avLst/>
          </a:prstGeom>
          <a:ln w="38100">
            <a:solidFill>
              <a:srgbClr val="8EA4C4"/>
            </a:solidFill>
            <a:headEnd type="triangle"/>
          </a:ln>
        </p:spPr>
      </p:cxnSp>
      <p:sp>
        <p:nvSpPr>
          <p:cNvPr id="49" name="principle"/>
          <p:cNvSpPr txBox="1"/>
          <p:nvPr/>
        </p:nvSpPr>
        <p:spPr>
          <a:xfrm>
            <a:off x="8001000" y="441325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800" b="1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官方来源与合规边界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neon card"/>
          <p:cNvSpPr/>
          <p:nvPr/>
        </p:nvSpPr>
        <p:spPr>
          <a:xfrm>
            <a:off x="603250" y="1555750"/>
            <a:ext cx="2984500" cy="1587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card inner"/>
          <p:cNvSpPr/>
          <p:nvPr/>
        </p:nvSpPr>
        <p:spPr>
          <a:xfrm>
            <a:off x="666750" y="1619250"/>
            <a:ext cx="2857500" cy="1460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card title"/>
          <p:cNvSpPr txBox="1"/>
          <p:nvPr/>
        </p:nvSpPr>
        <p:spPr>
          <a:xfrm>
            <a:off x="781050" y="1720850"/>
            <a:ext cx="2628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 API 数据源、官方展示页和投资风险提示分开说明。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card body"/>
          <p:cNvSpPr txBox="1"/>
          <p:nvPr/>
        </p:nvSpPr>
        <p:spPr>
          <a:xfrm>
            <a:off x="781050" y="2051050"/>
            <a:ext cx="2628900" cy="1003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汇率官方入口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neon card"/>
          <p:cNvSpPr/>
          <p:nvPr/>
        </p:nvSpPr>
        <p:spPr>
          <a:xfrm>
            <a:off x="3968750" y="1555750"/>
            <a:ext cx="2984500" cy="1587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card inner"/>
          <p:cNvSpPr/>
          <p:nvPr/>
        </p:nvSpPr>
        <p:spPr>
          <a:xfrm>
            <a:off x="4032250" y="1619250"/>
            <a:ext cx="2857500" cy="1460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card title"/>
          <p:cNvSpPr txBox="1"/>
          <p:nvPr/>
        </p:nvSpPr>
        <p:spPr>
          <a:xfrm>
            <a:off x="4146550" y="1720850"/>
            <a:ext cx="2628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CNY 相关跳中国银行，欧元参考跳 ECB，其它跳央行/监管机构。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card body"/>
          <p:cNvSpPr txBox="1"/>
          <p:nvPr/>
        </p:nvSpPr>
        <p:spPr>
          <a:xfrm>
            <a:off x="4146550" y="2051050"/>
            <a:ext cx="2628900" cy="1003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指数来源入口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neon card"/>
          <p:cNvSpPr/>
          <p:nvPr/>
        </p:nvSpPr>
        <p:spPr>
          <a:xfrm>
            <a:off x="7334250" y="1555750"/>
            <a:ext cx="2984500" cy="1587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A78BF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card inner"/>
          <p:cNvSpPr/>
          <p:nvPr/>
        </p:nvSpPr>
        <p:spPr>
          <a:xfrm>
            <a:off x="7397750" y="1619250"/>
            <a:ext cx="2857500" cy="1460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card title"/>
          <p:cNvSpPr txBox="1"/>
          <p:nvPr/>
        </p:nvSpPr>
        <p:spPr>
          <a:xfrm>
            <a:off x="7512050" y="1720850"/>
            <a:ext cx="2628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每条指数提供官方或可信详情页，方便现场核验。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ard body"/>
          <p:cNvSpPr txBox="1"/>
          <p:nvPr/>
        </p:nvSpPr>
        <p:spPr>
          <a:xfrm>
            <a:off x="7512050" y="2051050"/>
            <a:ext cx="2628900" cy="1003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质量标签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neon card"/>
          <p:cNvSpPr/>
          <p:nvPr/>
        </p:nvSpPr>
        <p:spPr>
          <a:xfrm>
            <a:off x="1968500" y="3714750"/>
            <a:ext cx="2984500" cy="1460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FF6B8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card inner"/>
          <p:cNvSpPr/>
          <p:nvPr/>
        </p:nvSpPr>
        <p:spPr>
          <a:xfrm>
            <a:off x="2032000" y="3778250"/>
            <a:ext cx="2857500" cy="1333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card title"/>
          <p:cNvSpPr txBox="1"/>
          <p:nvPr/>
        </p:nvSpPr>
        <p:spPr>
          <a:xfrm>
            <a:off x="2146300" y="3879850"/>
            <a:ext cx="2628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实时、延迟、缓存、兜底、不可用都有明确 UI 文案。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card body"/>
          <p:cNvSpPr txBox="1"/>
          <p:nvPr/>
        </p:nvSpPr>
        <p:spPr>
          <a:xfrm>
            <a:off x="2146300" y="4210050"/>
            <a:ext cx="26289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免责声明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neon card"/>
          <p:cNvSpPr/>
          <p:nvPr/>
        </p:nvSpPr>
        <p:spPr>
          <a:xfrm>
            <a:off x="5334000" y="3714750"/>
            <a:ext cx="2984500" cy="1460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card inner"/>
          <p:cNvSpPr/>
          <p:nvPr/>
        </p:nvSpPr>
        <p:spPr>
          <a:xfrm>
            <a:off x="5397500" y="3778250"/>
            <a:ext cx="2857500" cy="1333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card title"/>
          <p:cNvSpPr txBox="1"/>
          <p:nvPr/>
        </p:nvSpPr>
        <p:spPr>
          <a:xfrm>
            <a:off x="5511800" y="3879850"/>
            <a:ext cx="2628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免费公开源可能延迟，数据仅用于学习和市场观察，不构成投资建议。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card body"/>
          <p:cNvSpPr txBox="1"/>
          <p:nvPr/>
        </p:nvSpPr>
        <p:spPr>
          <a:xfrm>
            <a:off x="5511800" y="4210050"/>
            <a:ext cx="26289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不把不确定数据包装成权威实时数据，是金融项目的基本底线。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创新价值与竞争力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neon card"/>
          <p:cNvSpPr/>
          <p:nvPr/>
        </p:nvSpPr>
        <p:spPr>
          <a:xfrm>
            <a:off x="698500" y="1746250"/>
            <a:ext cx="2603500" cy="2603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card inner"/>
          <p:cNvSpPr/>
          <p:nvPr/>
        </p:nvSpPr>
        <p:spPr>
          <a:xfrm>
            <a:off x="762000" y="1809750"/>
            <a:ext cx="2476500" cy="2476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card title"/>
          <p:cNvSpPr txBox="1"/>
          <p:nvPr/>
        </p:nvSpPr>
        <p:spPr>
          <a:xfrm>
            <a:off x="876300" y="1911350"/>
            <a:ext cx="2247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在低成本、低依赖、可公开演示的限制下做出完整金融数据产品。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card body"/>
          <p:cNvSpPr txBox="1"/>
          <p:nvPr/>
        </p:nvSpPr>
        <p:spPr>
          <a:xfrm>
            <a:off x="876300" y="2241550"/>
            <a:ext cx="22479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零成本公网展示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本机 Python + Cloudflare Quick Tunnel，评委可直接打开链接。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可观测数据链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诊断接口让数据源、缓存、失败和耗时都可解释。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neon card"/>
          <p:cNvSpPr/>
          <p:nvPr/>
        </p:nvSpPr>
        <p:spPr>
          <a:xfrm>
            <a:off x="3746500" y="1746250"/>
            <a:ext cx="2603500" cy="2603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card inner"/>
          <p:cNvSpPr/>
          <p:nvPr/>
        </p:nvSpPr>
        <p:spPr>
          <a:xfrm>
            <a:off x="3810000" y="1809750"/>
            <a:ext cx="2476500" cy="2476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card title"/>
          <p:cNvSpPr txBox="1"/>
          <p:nvPr/>
        </p:nvSpPr>
        <p:spPr>
          <a:xfrm>
            <a:off x="3924300" y="1911350"/>
            <a:ext cx="2247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空间化市场时钟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card body"/>
          <p:cNvSpPr txBox="1"/>
          <p:nvPr/>
        </p:nvSpPr>
        <p:spPr>
          <a:xfrm>
            <a:off x="3924300" y="2241550"/>
            <a:ext cx="22479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3D 地球把跨时区理解变成交互体验。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真实优先图表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三模式趋势图 + 数据质量标签，避免误导。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核心价值：从静态网页升级为可运行、可分享、可说明边界的产品。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neon card"/>
          <p:cNvSpPr/>
          <p:nvPr/>
        </p:nvSpPr>
        <p:spPr>
          <a:xfrm>
            <a:off x="6794500" y="1746250"/>
            <a:ext cx="2603500" cy="2603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A78BF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card inner"/>
          <p:cNvSpPr/>
          <p:nvPr/>
        </p:nvSpPr>
        <p:spPr>
          <a:xfrm>
            <a:off x="6858000" y="1809750"/>
            <a:ext cx="2476500" cy="2476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card title"/>
          <p:cNvSpPr txBox="1"/>
          <p:nvPr/>
        </p:nvSpPr>
        <p:spPr>
          <a:xfrm>
            <a:off x="6972300" y="1911350"/>
            <a:ext cx="2247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ard body"/>
          <p:cNvSpPr txBox="1"/>
          <p:nvPr/>
        </p:nvSpPr>
        <p:spPr>
          <a:xfrm>
            <a:off x="6972300" y="2241550"/>
            <a:ext cx="22479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neon card"/>
          <p:cNvSpPr/>
          <p:nvPr/>
        </p:nvSpPr>
        <p:spPr>
          <a:xfrm>
            <a:off x="9842500" y="1746250"/>
            <a:ext cx="1778000" cy="26035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card inner"/>
          <p:cNvSpPr/>
          <p:nvPr/>
        </p:nvSpPr>
        <p:spPr>
          <a:xfrm>
            <a:off x="9906000" y="1809750"/>
            <a:ext cx="1651000" cy="24765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card title"/>
          <p:cNvSpPr txBox="1"/>
          <p:nvPr/>
        </p:nvSpPr>
        <p:spPr>
          <a:xfrm>
            <a:off x="10020300" y="1911350"/>
            <a:ext cx="14224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card body"/>
          <p:cNvSpPr txBox="1"/>
          <p:nvPr/>
        </p:nvSpPr>
        <p:spPr>
          <a:xfrm>
            <a:off x="10020300" y="2241550"/>
            <a:ext cx="1422400" cy="201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slogan"/>
          <p:cNvSpPr txBox="1"/>
          <p:nvPr/>
        </p:nvSpPr>
        <p:spPr>
          <a:xfrm>
            <a:off x="1333500" y="4713605"/>
            <a:ext cx="9525000" cy="789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进度与后续计划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neon card"/>
          <p:cNvSpPr/>
          <p:nvPr/>
        </p:nvSpPr>
        <p:spPr>
          <a:xfrm>
            <a:off x="635000" y="1651000"/>
            <a:ext cx="2476500" cy="35560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card inner"/>
          <p:cNvSpPr/>
          <p:nvPr/>
        </p:nvSpPr>
        <p:spPr>
          <a:xfrm>
            <a:off x="698500" y="1714500"/>
            <a:ext cx="2349500" cy="34290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card title"/>
          <p:cNvSpPr txBox="1"/>
          <p:nvPr/>
        </p:nvSpPr>
        <p:spPr>
          <a:xfrm>
            <a:off x="812800" y="1816100"/>
            <a:ext cx="2120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已完成比赛版核心闭环，后续围绕数据源、学习场景和正式部署增强。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card body"/>
          <p:cNvSpPr txBox="1"/>
          <p:nvPr/>
        </p:nvSpPr>
        <p:spPr>
          <a:xfrm>
            <a:off x="812800" y="2146300"/>
            <a:ext cx="21209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本地服务、汇率、换汇、全球指数、趋势图、3D 地球、主题偏好、公开访问。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短期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补充更多稳定指数源，完善公网缓存检查和自动化浏览器验收。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中期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自选市场、学习卡片、价格提醒、更多资产类别和历史对比。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长期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neon card"/>
          <p:cNvSpPr/>
          <p:nvPr/>
        </p:nvSpPr>
        <p:spPr>
          <a:xfrm>
            <a:off x="3556000" y="1651000"/>
            <a:ext cx="2476500" cy="35560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47F0A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card inner"/>
          <p:cNvSpPr/>
          <p:nvPr/>
        </p:nvSpPr>
        <p:spPr>
          <a:xfrm>
            <a:off x="3619500" y="1714500"/>
            <a:ext cx="2349500" cy="34290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card title"/>
          <p:cNvSpPr txBox="1"/>
          <p:nvPr/>
        </p:nvSpPr>
        <p:spPr>
          <a:xfrm>
            <a:off x="3733800" y="1816100"/>
            <a:ext cx="2120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正式云部署、合规付费数据源、账号体系、报表导出和教育版产品化。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card body"/>
          <p:cNvSpPr txBox="1"/>
          <p:nvPr/>
        </p:nvSpPr>
        <p:spPr>
          <a:xfrm>
            <a:off x="3733800" y="2146300"/>
            <a:ext cx="21209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neon card"/>
          <p:cNvSpPr/>
          <p:nvPr/>
        </p:nvSpPr>
        <p:spPr>
          <a:xfrm>
            <a:off x="6477000" y="1651000"/>
            <a:ext cx="2476500" cy="35560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FFD166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card inner"/>
          <p:cNvSpPr/>
          <p:nvPr/>
        </p:nvSpPr>
        <p:spPr>
          <a:xfrm>
            <a:off x="6540500" y="1714500"/>
            <a:ext cx="2349500" cy="34290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card title"/>
          <p:cNvSpPr txBox="1"/>
          <p:nvPr/>
        </p:nvSpPr>
        <p:spPr>
          <a:xfrm>
            <a:off x="6654800" y="1816100"/>
            <a:ext cx="2120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ard body"/>
          <p:cNvSpPr txBox="1"/>
          <p:nvPr/>
        </p:nvSpPr>
        <p:spPr>
          <a:xfrm>
            <a:off x="6654800" y="2146300"/>
            <a:ext cx="21209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neon card"/>
          <p:cNvSpPr/>
          <p:nvPr/>
        </p:nvSpPr>
        <p:spPr>
          <a:xfrm>
            <a:off x="9398000" y="1651000"/>
            <a:ext cx="2159000" cy="35560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A78BFA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card inner"/>
          <p:cNvSpPr/>
          <p:nvPr/>
        </p:nvSpPr>
        <p:spPr>
          <a:xfrm>
            <a:off x="9461500" y="1714500"/>
            <a:ext cx="2032000" cy="34290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card title"/>
          <p:cNvSpPr txBox="1"/>
          <p:nvPr/>
        </p:nvSpPr>
        <p:spPr>
          <a:xfrm>
            <a:off x="9575800" y="1816100"/>
            <a:ext cx="18034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card body"/>
          <p:cNvSpPr txBox="1"/>
          <p:nvPr/>
        </p:nvSpPr>
        <p:spPr>
          <a:xfrm>
            <a:off x="9575800" y="2146300"/>
            <a:ext cx="1803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bg si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C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4" name="grid h"/>
          <p:cNvCxnSpPr/>
          <p:nvPr/>
        </p:nvCxnSpPr>
        <p:spPr>
          <a:xfrm flipV="1">
            <a:off x="0" y="762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5" name="grid h"/>
          <p:cNvCxnSpPr/>
          <p:nvPr/>
        </p:nvCxnSpPr>
        <p:spPr>
          <a:xfrm flipV="1">
            <a:off x="0" y="1320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6" name="grid h"/>
          <p:cNvCxnSpPr/>
          <p:nvPr/>
        </p:nvCxnSpPr>
        <p:spPr>
          <a:xfrm flipV="1">
            <a:off x="0" y="1879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7" name="grid h"/>
          <p:cNvCxnSpPr/>
          <p:nvPr/>
        </p:nvCxnSpPr>
        <p:spPr>
          <a:xfrm flipV="1">
            <a:off x="0" y="2438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8" name="grid h"/>
          <p:cNvCxnSpPr/>
          <p:nvPr/>
        </p:nvCxnSpPr>
        <p:spPr>
          <a:xfrm flipV="1">
            <a:off x="0" y="2997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9" name="grid h"/>
          <p:cNvCxnSpPr/>
          <p:nvPr/>
        </p:nvCxnSpPr>
        <p:spPr>
          <a:xfrm flipV="1">
            <a:off x="0" y="35560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0" name="grid h"/>
          <p:cNvCxnSpPr/>
          <p:nvPr/>
        </p:nvCxnSpPr>
        <p:spPr>
          <a:xfrm flipV="1">
            <a:off x="0" y="41148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1" name="grid h"/>
          <p:cNvCxnSpPr/>
          <p:nvPr/>
        </p:nvCxnSpPr>
        <p:spPr>
          <a:xfrm flipV="1">
            <a:off x="0" y="46736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2" name="grid h"/>
          <p:cNvCxnSpPr/>
          <p:nvPr/>
        </p:nvCxnSpPr>
        <p:spPr>
          <a:xfrm flipV="1">
            <a:off x="0" y="52324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3" name="grid h"/>
          <p:cNvCxnSpPr/>
          <p:nvPr/>
        </p:nvCxnSpPr>
        <p:spPr>
          <a:xfrm flipV="1">
            <a:off x="0" y="5791200"/>
            <a:ext cx="12192000" cy="254000"/>
          </a:xfrm>
          <a:prstGeom prst="line">
            <a:avLst/>
          </a:prstGeom>
          <a:ln w="8890">
            <a:solidFill>
              <a:srgbClr val="102B4A"/>
            </a:solidFill>
          </a:ln>
        </p:spPr>
      </p:cxnSp>
      <p:cxnSp>
        <p:nvCxnSpPr>
          <p:cNvPr id="14" name="grid v"/>
          <p:cNvCxnSpPr/>
          <p:nvPr/>
        </p:nvCxnSpPr>
        <p:spPr>
          <a:xfrm flipH="1">
            <a:off x="254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5" name="grid v"/>
          <p:cNvCxnSpPr/>
          <p:nvPr/>
        </p:nvCxnSpPr>
        <p:spPr>
          <a:xfrm flipH="1">
            <a:off x="1714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6" name="grid v"/>
          <p:cNvCxnSpPr/>
          <p:nvPr/>
        </p:nvCxnSpPr>
        <p:spPr>
          <a:xfrm flipH="1">
            <a:off x="3175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7" name="grid v"/>
          <p:cNvCxnSpPr/>
          <p:nvPr/>
        </p:nvCxnSpPr>
        <p:spPr>
          <a:xfrm flipH="1">
            <a:off x="4635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8" name="grid v"/>
          <p:cNvCxnSpPr/>
          <p:nvPr/>
        </p:nvCxnSpPr>
        <p:spPr>
          <a:xfrm flipH="1">
            <a:off x="6096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19" name="grid v"/>
          <p:cNvCxnSpPr/>
          <p:nvPr/>
        </p:nvCxnSpPr>
        <p:spPr>
          <a:xfrm flipH="1">
            <a:off x="7556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0" name="grid v"/>
          <p:cNvCxnSpPr/>
          <p:nvPr/>
        </p:nvCxnSpPr>
        <p:spPr>
          <a:xfrm flipH="1">
            <a:off x="90170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cxnSp>
        <p:nvCxnSpPr>
          <p:cNvPr id="21" name="grid v"/>
          <p:cNvCxnSpPr/>
          <p:nvPr/>
        </p:nvCxnSpPr>
        <p:spPr>
          <a:xfrm flipH="1">
            <a:off x="10477500" y="0"/>
            <a:ext cx="762000" cy="6858000"/>
          </a:xfrm>
          <a:prstGeom prst="line">
            <a:avLst/>
          </a:prstGeom>
          <a:ln w="8890">
            <a:solidFill>
              <a:srgbClr val="0F2743"/>
            </a:solidFill>
          </a:ln>
        </p:spPr>
      </p:cxnSp>
      <p:sp>
        <p:nvSpPr>
          <p:cNvPr id="22" name="neon left"/>
          <p:cNvSpPr/>
          <p:nvPr/>
        </p:nvSpPr>
        <p:spPr>
          <a:xfrm>
            <a:off x="-762000" y="635000"/>
            <a:ext cx="2476500" cy="2476500"/>
          </a:xfrm>
          <a:prstGeom prst="ellipse">
            <a:avLst/>
          </a:prstGeom>
          <a:solidFill>
            <a:srgbClr val="0A2B55"/>
          </a:solidFill>
          <a:ln w="12700">
            <a:solidFill>
              <a:srgbClr val="164C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neon right"/>
          <p:cNvSpPr/>
          <p:nvPr/>
        </p:nvSpPr>
        <p:spPr>
          <a:xfrm>
            <a:off x="10033000" y="3937000"/>
            <a:ext cx="3175000" cy="3175000"/>
          </a:xfrm>
          <a:prstGeom prst="ellipse">
            <a:avLst/>
          </a:prstGeom>
          <a:solidFill>
            <a:srgbClr val="241442"/>
          </a:solidFill>
          <a:ln w="12700">
            <a:solidFill>
              <a:srgbClr val="49308D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footer"/>
          <p:cNvSpPr txBox="1"/>
          <p:nvPr/>
        </p:nvSpPr>
        <p:spPr>
          <a:xfrm>
            <a:off x="546100" y="6464300"/>
            <a:ext cx="482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num"/>
          <p:cNvSpPr txBox="1"/>
          <p:nvPr/>
        </p:nvSpPr>
        <p:spPr>
          <a:xfrm>
            <a:off x="11061700" y="646430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6F86A6"/>
                </a:solidFill>
                <a:latin typeface="微软雅黑" panose="020B0503020204020204" charset="-122"/>
                <a:ea typeface="微软雅黑" panose="020B0503020204020204" charset="-122"/>
              </a:rPr>
              <a:t>创新创业作品展示</a:t>
            </a:r>
            <a:endParaRPr lang="zh-CN" sz="1100">
              <a:solidFill>
                <a:srgbClr val="6F86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itle"/>
          <p:cNvSpPr txBox="1"/>
          <p:nvPr/>
        </p:nvSpPr>
        <p:spPr>
          <a:xfrm>
            <a:off x="546100" y="342900"/>
            <a:ext cx="79375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ub"/>
          <p:cNvSpPr txBox="1"/>
          <p:nvPr/>
        </p:nvSpPr>
        <p:spPr>
          <a:xfrm>
            <a:off x="571500" y="749300"/>
            <a:ext cx="857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8EA4C4"/>
                </a:solidFill>
                <a:latin typeface="微软雅黑" panose="020B0503020204020204" charset="-122"/>
                <a:ea typeface="微软雅黑" panose="020B0503020204020204" charset="-122"/>
              </a:rPr>
              <a:t>展示路径</a:t>
            </a:r>
            <a:endParaRPr lang="zh-CN" sz="1400">
              <a:solidFill>
                <a:srgbClr val="8EA4C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underline"/>
          <p:cNvSpPr/>
          <p:nvPr/>
        </p:nvSpPr>
        <p:spPr>
          <a:xfrm>
            <a:off x="571500" y="1117600"/>
            <a:ext cx="749300" cy="31750"/>
          </a:xfrm>
          <a:prstGeom prst="rect">
            <a:avLst/>
          </a:prstGeom>
          <a:solidFill>
            <a:srgbClr val="00D4FF"/>
          </a:solidFill>
          <a:ln w="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phone shadow"/>
          <p:cNvSpPr/>
          <p:nvPr/>
        </p:nvSpPr>
        <p:spPr>
          <a:xfrm>
            <a:off x="749300" y="1682750"/>
            <a:ext cx="1708150" cy="35179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phone frame"/>
          <p:cNvSpPr/>
          <p:nvPr/>
        </p:nvSpPr>
        <p:spPr>
          <a:xfrm>
            <a:off x="825500" y="1619250"/>
            <a:ext cx="1555750" cy="33655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phone label"/>
          <p:cNvSpPr txBox="1"/>
          <p:nvPr/>
        </p:nvSpPr>
        <p:spPr>
          <a:xfrm>
            <a:off x="762000" y="5099050"/>
            <a:ext cx="168275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现场演示按视觉冲击、数据可信、交互完整和公网访问四条线展开。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hone cap"/>
          <p:cNvSpPr txBox="1"/>
          <p:nvPr/>
        </p:nvSpPr>
        <p:spPr>
          <a:xfrm>
            <a:off x="666750" y="5302250"/>
            <a:ext cx="187325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1. 3D 地球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phone shadow"/>
          <p:cNvSpPr/>
          <p:nvPr/>
        </p:nvSpPr>
        <p:spPr>
          <a:xfrm>
            <a:off x="3225800" y="1682750"/>
            <a:ext cx="1708150" cy="35179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phone frame"/>
          <p:cNvSpPr/>
          <p:nvPr/>
        </p:nvSpPr>
        <p:spPr>
          <a:xfrm>
            <a:off x="3302000" y="1619250"/>
            <a:ext cx="1555750" cy="33655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phone label"/>
          <p:cNvSpPr txBox="1"/>
          <p:nvPr/>
        </p:nvSpPr>
        <p:spPr>
          <a:xfrm>
            <a:off x="3238500" y="5099050"/>
            <a:ext cx="168275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拖拽旋转，点击城市光点，展示实时读秒和时区。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phone cap"/>
          <p:cNvSpPr txBox="1"/>
          <p:nvPr/>
        </p:nvSpPr>
        <p:spPr>
          <a:xfrm>
            <a:off x="3143250" y="5302250"/>
            <a:ext cx="187325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2. 汇率换算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phone shadow"/>
          <p:cNvSpPr/>
          <p:nvPr/>
        </p:nvSpPr>
        <p:spPr>
          <a:xfrm>
            <a:off x="5702300" y="1682750"/>
            <a:ext cx="1708150" cy="3517900"/>
          </a:xfrm>
          <a:prstGeom prst="roundRect">
            <a:avLst/>
          </a:prstGeom>
          <a:solidFill>
            <a:srgbClr val="030A14"/>
          </a:solidFill>
          <a:ln w="15240">
            <a:solidFill>
              <a:srgbClr val="122A47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phone frame"/>
          <p:cNvSpPr/>
          <p:nvPr/>
        </p:nvSpPr>
        <p:spPr>
          <a:xfrm>
            <a:off x="5778500" y="1619250"/>
            <a:ext cx="1555750" cy="3365500"/>
          </a:xfrm>
          <a:prstGeom prst="roundRect">
            <a:avLst/>
          </a:prstGeom>
          <a:solidFill>
            <a:srgbClr val="F8FBFF"/>
          </a:solidFill>
          <a:ln w="25400">
            <a:solidFill>
              <a:srgbClr val="4DBB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phone label"/>
          <p:cNvSpPr txBox="1"/>
          <p:nvPr/>
        </p:nvSpPr>
        <p:spPr>
          <a:xfrm>
            <a:off x="5715000" y="5099050"/>
            <a:ext cx="168275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切换基础货币，做高精度换汇，点击官方来源。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phone cap"/>
          <p:cNvSpPr txBox="1"/>
          <p:nvPr/>
        </p:nvSpPr>
        <p:spPr>
          <a:xfrm>
            <a:off x="5619750" y="5302250"/>
            <a:ext cx="187325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CN" sz="1100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3. 指数图表</a:t>
            </a:r>
            <a:endParaRPr lang="zh-CN" sz="1100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neon card"/>
          <p:cNvSpPr/>
          <p:nvPr/>
        </p:nvSpPr>
        <p:spPr>
          <a:xfrm>
            <a:off x="8128000" y="1905000"/>
            <a:ext cx="2730500" cy="2286000"/>
          </a:xfrm>
          <a:prstGeom prst="roundRect">
            <a:avLst/>
          </a:prstGeom>
          <a:solidFill>
            <a:srgbClr val="101D33"/>
          </a:solidFill>
          <a:ln w="22860">
            <a:solidFill>
              <a:srgbClr val="00D4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card inner"/>
          <p:cNvSpPr/>
          <p:nvPr/>
        </p:nvSpPr>
        <p:spPr>
          <a:xfrm>
            <a:off x="8191500" y="1968500"/>
            <a:ext cx="2603500" cy="2159000"/>
          </a:xfrm>
          <a:prstGeom prst="roundRect">
            <a:avLst/>
          </a:prstGeom>
          <a:solidFill>
            <a:srgbClr val="0A1426"/>
          </a:solidFill>
          <a:ln w="10160">
            <a:solidFill>
              <a:srgbClr val="1E3355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card title"/>
          <p:cNvSpPr txBox="1"/>
          <p:nvPr/>
        </p:nvSpPr>
        <p:spPr>
          <a:xfrm>
            <a:off x="8305800" y="2070100"/>
            <a:ext cx="23749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切换分时 / 日 K / 月 K，打开指数详情和来源页。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card body"/>
          <p:cNvSpPr txBox="1"/>
          <p:nvPr/>
        </p:nvSpPr>
        <p:spPr>
          <a:xfrm>
            <a:off x="8305800" y="2400300"/>
            <a:ext cx="2374900" cy="170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4. 数据诊断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打开 /api/diagnostics，说明缓存、耗时和数据源状态。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B9C7DA"/>
                </a:solidFill>
                <a:latin typeface="微软雅黑" panose="020B0503020204020204" charset="-122"/>
                <a:ea typeface="微软雅黑" panose="020B0503020204020204" charset="-122"/>
              </a:rPr>
              <a:t>5. 公网体验</a:t>
            </a:r>
            <a:endParaRPr lang="zh-CN" sz="1400">
              <a:solidFill>
                <a:srgbClr val="B9C7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final"/>
          <p:cNvSpPr txBox="1"/>
          <p:nvPr/>
        </p:nvSpPr>
        <p:spPr>
          <a:xfrm>
            <a:off x="1397000" y="5657850"/>
            <a:ext cx="7997825" cy="665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双击公开访问脚本，把 trycloudflare.com 链接发给评委。</a:t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thanks"/>
          <p:cNvSpPr txBox="1"/>
          <p:nvPr/>
        </p:nvSpPr>
        <p:spPr>
          <a:xfrm>
            <a:off x="0" y="1492250"/>
            <a:ext cx="1219200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谢谢聆听</a:t>
            </a:r>
            <a:endParaRPr lang="zh-CN"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0" y="22860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2200">
                <a:solidFill>
                  <a:srgbClr val="BFE7FF"/>
                </a:solidFill>
                <a:latin typeface="微软雅黑" panose="020B0503020204020204" charset="-122"/>
                <a:ea typeface="微软雅黑" panose="020B0503020204020204" charset="-122"/>
              </a:rPr>
              <a:t>金融小助手</a:t>
            </a:r>
            <a:endParaRPr lang="zh-CN" sz="2200">
              <a:solidFill>
                <a:srgbClr val="BF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qrbox"/>
          <p:cNvSpPr/>
          <p:nvPr/>
        </p:nvSpPr>
        <p:spPr>
          <a:xfrm>
            <a:off x="5334000" y="2921000"/>
            <a:ext cx="1587500" cy="158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4FF"/>
            </a:solidFill>
          </a:ln>
        </p:spPr>
      </p:sp>
      <p:sp>
        <p:nvSpPr>
          <p:cNvPr id="7" name="welcome"/>
          <p:cNvSpPr txBox="1"/>
          <p:nvPr/>
        </p:nvSpPr>
        <p:spPr>
          <a:xfrm>
            <a:off x="0" y="4826000"/>
            <a:ext cx="12192000" cy="35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AFC3DF"/>
                </a:solidFill>
                <a:latin typeface="微软雅黑" panose="020B0503020204020204" charset="-122"/>
                <a:ea typeface="微软雅黑" panose="020B0503020204020204" charset="-122"/>
              </a:rPr>
              <a:t>欢迎体验与交流</a:t>
            </a:r>
            <a:endParaRPr lang="zh-CN" sz="1800" b="1">
              <a:solidFill>
                <a:srgbClr val="AFC3D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Theme">
  <a:themeElements>
    <a:clrScheme name="Tech">
      <a:dk1>
        <a:srgbClr val="06111F"/>
      </a:dk1>
      <a:lt1>
        <a:srgbClr val="FFFFFF"/>
      </a:lt1>
      <a:dk2>
        <a:srgbClr val="07182C"/>
      </a:dk2>
      <a:lt2>
        <a:srgbClr val="F7F9FC"/>
      </a:lt2>
      <a:accent1>
        <a:srgbClr val="00D4FF"/>
      </a:accent1>
      <a:accent2>
        <a:srgbClr val="47F0A0"/>
      </a:accent2>
      <a:accent3>
        <a:srgbClr val="FFD166"/>
      </a:accent3>
      <a:accent4>
        <a:srgbClr val="A78BFA"/>
      </a:accent4>
      <a:accent5>
        <a:srgbClr val="FF6B8A"/>
      </a:accent5>
      <a:accent6>
        <a:srgbClr val="2EE8FF"/>
      </a:accent6>
      <a:hlink>
        <a:srgbClr val="00D4FF"/>
      </a:hlink>
      <a:folHlink>
        <a:srgbClr val="A78BFA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Tech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3408</ns0:Words>
  <ns0:Application>WPS 演示</ns0:Application>
  <ns0:PresentationFormat>宽屏</ns0:PresentationFormat>
  <ns0:Paragraphs>451</ns0:Paragraphs>
  <ns0:Slides>16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16</ns1:i4>
      </ns1:variant>
    </ns1:vector>
  </ns0:HeadingPairs>
  <ns0:TitlesOfParts>
    <ns1:vector size="23" baseType="lpstr">
      <ns1:lpstr>Arial</ns1:lpstr>
      <ns1:lpstr>宋体</ns1:lpstr>
      <ns1:lpstr>Wingdings</ns1:lpstr>
      <ns1:lpstr>微软雅黑</ns1:lpstr>
      <ns1:lpstr>Arial Unicode MS</ns1:lpstr>
      <ns1:lpstr>Calibri</ns1:lpstr>
      <ns1:lpstr>Tech Theme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金融小助手 双创答辩PPT 科技图文增强版</dc:title>
  <dc:creator>Codex</dc:creator>
  <ns0:lastModifiedBy>WPS_1659709549</ns0:lastModifiedBy>
  <ns0:revision>2</ns0:revision>
  <ns2:created xsi:type="dcterms:W3CDTF">2026-05-06T08:41:00Z</ns2:created>
  <ns2:modified xsi:type="dcterms:W3CDTF">2026-05-06T15:14:16Z</ns2:modified>
</ns0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AE1EE1621C5447D7954CD19D7598648B_12</vt:lpwstr>
  </property>
</Properties>
</file>